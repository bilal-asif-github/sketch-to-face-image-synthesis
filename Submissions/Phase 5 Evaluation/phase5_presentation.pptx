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L1 Score</c:v>
                </c:pt>
              </c:strCache>
            </c:strRef>
          </c:tx>
          <c:spPr>
            <a:solidFill>
              <a:srgbClr val="64748B"/>
            </a:solidFill>
            <a:effectLst/>
          </c:spPr>
          <c:invertIfNegative val="0"/>
          <c:dLbls>
            <c:numFmt formatCode="#,##0" sourceLinked="0"/>
            <c:txPr>
              <a:bodyPr/>
              <a:lstStyle/>
              <a:p>
                <a:pPr>
                  <a:defRPr b="0" i="0" strike="noStrike" sz="9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14A8A6"/>
              </a:solidFill>
              <a:effectLst/>
            </c:spPr>
          </c:dPt>
          <c:dPt>
            <c:idx val="2"/>
            <c:invertIfNegative val="0"/>
            <c:bubble3D val="0"/>
            <c:spPr>
              <a:solidFill>
                <a:srgbClr val="0E7C7B"/>
              </a:solidFill>
              <a:effectLst/>
            </c:spPr>
          </c:dPt>
          <c:cat>
            <c:multiLvlStrRef>
              <c:f>Sheet1!$A$2:$A$4</c:f>
              <c:multiLvlStrCache>
                <c:ptCount val="3"/>
                <c:lvl>
                  <c:pt idx="0">
                    <c:v>MLP Baseline</c:v>
                  </c:pt>
                  <c:pt idx="1">
                    <c:v>Phase 3 / Official pSp</c:v>
                  </c:pt>
                  <c:pt idx="2">
                    <c:v>Phase 4 (ours)</c:v>
                  </c:pt>
                </c:lvl>
              </c:multiLvlStrCache>
            </c:multiLvlStrRef>
          </c:cat>
          <c:val>
            <c:numRef>
              <c:f>Sheet1!$B$2:$B$4</c:f>
              <c:numCache>
                <c:formatCode>General</c:formatCode>
                <c:ptCount val="3"/>
                <c:pt idx="0">
                  <c:v>0.419</c:v>
                </c:pt>
                <c:pt idx="1">
                  <c:v>0.2374</c:v>
                </c:pt>
                <c:pt idx="2">
                  <c:v>0.296</c:v>
                </c:pt>
              </c:numCache>
            </c:numRef>
          </c:val>
        </c:ser>
        <c:dLbls>
          <c:numFmt formatCode="#,##0" sourceLinked="0"/>
          <c:txPr>
            <a:bodyPr/>
            <a:lstStyle/>
            <a:p>
              <a:pPr>
                <a:defRPr b="0" i="0" strike="noStrike" sz="900" u="none">
                  <a:solidFill>
                    <a:srgbClr val="0D1B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0DD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7F9"/>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Failure Category</c:v>
                </c:pt>
              </c:strCache>
            </c:strRef>
          </c:tx>
          <c:spPr>
            <a:solidFill>
              <a:schemeClr val="accent1"/>
            </a:solidFill>
            <a:ln w="9525" cap="flat">
              <a:solidFill>
                <a:srgbClr val="F9F9F9"/>
              </a:solidFill>
              <a:prstDash val="solid"/>
              <a:round/>
            </a:ln>
            <a:effectLst/>
          </c:spPr>
          <c:dPt>
            <c:idx val="0"/>
            <c:bubble3D val="0"/>
            <c:spPr>
              <a:solidFill>
                <a:srgbClr val="E84855"/>
              </a:solidFill>
              <a:effectLst/>
            </c:spPr>
          </c:dPt>
          <c:dPt>
            <c:idx val="1"/>
            <c:bubble3D val="0"/>
            <c:spPr>
              <a:solidFill>
                <a:srgbClr val="F5A623"/>
              </a:solidFill>
              <a:effectLst/>
            </c:spPr>
          </c:dPt>
          <c:dPt>
            <c:idx val="2"/>
            <c:bubble3D val="0"/>
            <c:spPr>
              <a:solidFill>
                <a:srgbClr val="14A8A6"/>
              </a:solidFill>
              <a:effectLst/>
            </c:spPr>
          </c:dPt>
          <c:dPt>
            <c:idx val="3"/>
            <c:bubble3D val="0"/>
            <c:spPr>
              <a:solidFill>
                <a:srgbClr val="64748B"/>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Heavy Occlusion / Accessories</c:v>
                </c:pt>
                <c:pt idx="1">
                  <c:v>Complex Background / Noise</c:v>
                </c:pt>
                <c:pt idx="2">
                  <c:v>Low Contrast / Dark</c:v>
                </c:pt>
                <c:pt idx="3">
                  <c:v>Extreme Pose</c:v>
                </c:pt>
              </c:strCache>
            </c:strRef>
          </c:cat>
          <c:val>
            <c:numRef>
              <c:f>Sheet1!$B$2:$B$5</c:f>
              <c:numCache>
                <c:ptCount val="4"/>
                <c:pt idx="0">
                  <c:v>83.3</c:v>
                </c:pt>
                <c:pt idx="1">
                  <c:v>10</c:v>
                </c:pt>
                <c:pt idx="2">
                  <c:v>6.7</c:v>
                </c:pt>
                <c:pt idx="3">
                  <c:v>0</c:v>
                </c:pt>
              </c:numCache>
            </c:numRef>
          </c:val>
        </c:ser>
        <c:firstSliceAng val="0"/>
      </c:pieChart>
      <c:spPr>
        <a:noFill/>
        <a:ln>
          <a:noFill/>
        </a:ln>
        <a:effectLst/>
      </c:spPr>
    </c:plotArea>
    <c:legend>
      <c:legendPos val="r"/>
      <c:overlay val="0"/>
      <c:txPr>
        <a:bodyPr/>
        <a:lstStyle/>
        <a:p>
          <a:pPr>
            <a:defRPr sz="800">      </a:defRPr>
          </a:pPr>
          <a:endParaRPr lang="en-US"/>
        </a:p>
      </c:txPr>
    </c:legend>
    <c:plotVisOnly val="1"/>
    <c:dispBlanksAs val="span"/>
  </c:chart>
  <c:spPr>
    <a:solidFill>
      <a:srgbClr val="0D1B2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Say: "This is our Phase 5 Evaluation Report for the Sketch-to-Face Image Synthesis project. I'm [name], presenting with Bilal and Muaz. This is for AI335L Deep Learning Lab, Spring 2024, under Lecturer Haseeb at NASTP-IIT."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slide.
Say: "We have 8 sections today. We'll go from what we built, to how we tested it, what the results were, what our ablations revealed, where the model fails, efficiency numbers, honest statistics and limitations, and finally our plan for Phase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slide.
Say: "In short — we built a pipeline that converts a photo into an edge-map sketch, then uses a pSp encoder-decoder to turn that sketch into a realistic face photo. Our best custom model is Phase 4 with a ResNet-50 backbone and differential learning rate — it achieved L1 of 0.2960. The official pretrained pSp beats us at 0.2374 because it trained on far more data. The biggest win was transfer learning reducing error by 19.3%. The main limitation — the system completely fails on real hand-drawn forensic sketches."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Protocol slide.
Say: "We were very strict about the test ceremony. The test set was fixed at the start of Phase 3 — 2,500 images, never touched until all training and tuning was done. We froze model weights, used no gradients, ran the evaluation once, and cached immediately. Three seeds were used for official pSp to verify deterministic inference. This ensures our reported numbers are not cherry-picked."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Results slide.
Say: "Three models compared. MLP baseline was just a sanity check — 0.4190. Phase 3 scratch and official pSp show the same numbers because of the cache key issue I'll explain. Phase 4, our best custom-trained model, got L1 of 0.2960 and LPIPS of 0.677. Lower is better for both. Phase 4 LPIPS actually beats Phase 3 — meaning our transfer-learned model produces perceptually better outputs even though raw pixel L1 is slightly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Studies slide.
Say: "We ran 5 ablations. Ablation 1 — transfer learning won by 25% over scratch training. Ablation 2 — we compared 4 fine-tune strategies, Config C with differential learning rates was best — the idea is train the head fast and the backbone slow to avoid forgetting. Ablation 3 — our Line B pipeline vs raw Canny. Surprisingly raw Canny got better L1 because it's closer to what the original pSp was trained on, but Line B produces cleaner visual outputs. Ablation 4 — more data helps but with diminishing returns after 50%. Ablation 5 — this is important: removing F.normalize completely destroyed performance from 0.2985 to 0.4943. It's what keeps the style codes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slide.
Say: "We analysed the 30 worst predictions. The dominant failure at 83.3% is heavy occlusion — sunglasses, hats, heavy makeup. The model has no facial landmarks to work with and just generates a plausible but wrong face. Complex backgrounds were 10%, dark images 6.7%, extreme pose surprisingly zero. For subgroups — male faces perform worse than female, older worse than younger, which reflects CelebA's demographic imbalance. These biases are in the training data and cannot be fixed architecturally."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Analysis slide.
Say: "We stress-tested with 3 probes on 200 images. Gaussian noise — the model handles scanner-level noise fine because the bilateral filter gives some natural noise resistance, but it breaks at high noise. JPEG compression — fine up to quality 75, real degradation at 25 where block artifacts create fake edges. Dilation kernel — trained at 2x2 so it peaks there, thicker lines destroy fine facial detail. Overall, the model is reasonably robust for expected use cases but sensitive to its own preprocessing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slide.
Say: "Official pSp is massive — 297 million parameters, 1.2 gigabyte file, 74 milliseconds per image. Our Phase 3 is lightest at 40 million parameters but 477 megabytes. Phase 4 is 54 million parameters but the most compact checkpoint at 215 megabytes — that's because of how the weights were saved. Phase 4 inference is 31 milliseconds per image, which is fast enough for real-time use. Total training time across the whole project was about 30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with Published Work slide.
Say: "Direct comparison is difficult. Our LPIPS of 0.677 is worse than Pix2Pix at 0.474 — but they used FS2K with rich, artistic hand-drawn sketches. Our edge maps are algorithmically sparse. The pSp paper gets 0.180 but at 1024px on FFHQ — a completely different task. Nobody evaluates sketch-to-face on CelebA with edge maps at 256px, so our internal improvement of 19.3% from Phase 3 to Phase 4 is the most honest comparison we can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Statistics slide.
Say: "Three key statistics. Bootstrap CI for Phase 4 is [0.2934, 0.2986] — very narrow, meaning our test result is stable and not driven by outliers. The paired t-test gave t=35.942 and p essentially zero — statistically significant. But here's the honest caveat: this compares Phase 4 against the official pretrained pSp which was stored under the Phase 3 key. So it's confirming Phase 4 is significantly worse than the pretrained baseline — not worse than scratch training. Cohen's d of 0.719 confirms it's a large, practically meaningful difference of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slide.
Say: "We have 8 honest limitations. The red-bordered ones are most critical. Number 2 — our sketches are algorithmically generated, not real forensic hand-drawn sketches. The system completely fails on real ones. Number 6 — identity collapse, where the model generates a realistic but completely wrong face. The others cover narrow training data, distribution shift, incomplete experiments due to compute, fairness bias, no confidence score, and the fact that L1 is gameable by blurry outputs. We did not hide these — a model whose limitations are understood is a model that can be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6 Plan slide.
Say: "Three areas remaining. Deployment — the highest impact thing is completing fine-tune v3 at full 10,000 steps if we can get compute. We also need to finalise the Streamlit app and test on diverse real photos. Integration — clean GitHub repo, tag v1.0, verify reproducibility. Presentation — 10 minute demo, an honest CUFS failure vs Line B success comparison slide, and filling any remaining placeholders in this report. We're close to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Say: "That's our Phase 5 evaluation. To summarise — Phase 4 achieved L1 of 0.2960 and LPIPS of 0.677. Transfer learning gave us a 19.3% improvement over scratch. The statistical effect size was large at 0.719. We've been honest about 8 limitations. Thank you —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Text 1"/>
          <p:cNvSpPr/>
          <p:nvPr/>
        </p:nvSpPr>
        <p:spPr>
          <a:xfrm>
            <a:off x="365760" y="320040"/>
            <a:ext cx="8412480" cy="274320"/>
          </a:xfrm>
          <a:prstGeom prst="rect">
            <a:avLst/>
          </a:prstGeom>
          <a:noFill/>
          <a:ln/>
        </p:spPr>
        <p:txBody>
          <a:bodyPr wrap="square" lIns="0" tIns="0" rIns="0" bIns="0" rtlCol="0" anchor="ctr"/>
          <a:lstStyle/>
          <a:p>
            <a:pPr indent="0" marL="0">
              <a:buNone/>
            </a:pPr>
            <a:r>
              <a:rPr lang="en-US" sz="900" spc="200" kern="0" dirty="0">
                <a:solidFill>
                  <a:srgbClr val="14A8A6"/>
                </a:solidFill>
                <a:latin typeface="Calibri" pitchFamily="34" charset="0"/>
                <a:ea typeface="Calibri" pitchFamily="34" charset="-122"/>
                <a:cs typeface="Calibri" pitchFamily="34" charset="-120"/>
              </a:rPr>
              <a:t>AI335L DEEP LEARNING LAB  ·  SPRING 2024  ·  NASTP-IIT</a:t>
            </a:r>
            <a:endParaRPr lang="en-US" sz="900" dirty="0"/>
          </a:p>
        </p:txBody>
      </p:sp>
      <p:sp>
        <p:nvSpPr>
          <p:cNvPr id="4" name="Text 2"/>
          <p:cNvSpPr/>
          <p:nvPr/>
        </p:nvSpPr>
        <p:spPr>
          <a:xfrm>
            <a:off x="365760" y="777240"/>
            <a:ext cx="8412480" cy="9144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SKETCH-TO-FACE</a:t>
            </a:r>
            <a:endParaRPr lang="en-US" sz="5200" dirty="0"/>
          </a:p>
        </p:txBody>
      </p:sp>
      <p:sp>
        <p:nvSpPr>
          <p:cNvPr id="5" name="Text 3"/>
          <p:cNvSpPr/>
          <p:nvPr/>
        </p:nvSpPr>
        <p:spPr>
          <a:xfrm>
            <a:off x="365760" y="1600200"/>
            <a:ext cx="8412480" cy="822960"/>
          </a:xfrm>
          <a:prstGeom prst="rect">
            <a:avLst/>
          </a:prstGeom>
          <a:noFill/>
          <a:ln/>
        </p:spPr>
        <p:txBody>
          <a:bodyPr wrap="square" lIns="0" tIns="0" rIns="0" bIns="0" rtlCol="0" anchor="ctr"/>
          <a:lstStyle/>
          <a:p>
            <a:pPr indent="0" marL="0">
              <a:buNone/>
            </a:pPr>
            <a:r>
              <a:rPr lang="en-US" sz="5200" b="1" dirty="0">
                <a:solidFill>
                  <a:srgbClr val="0E7C7B"/>
                </a:solidFill>
                <a:latin typeface="Calibri" pitchFamily="34" charset="0"/>
                <a:ea typeface="Calibri" pitchFamily="34" charset="-122"/>
                <a:cs typeface="Calibri" pitchFamily="34" charset="-120"/>
              </a:rPr>
              <a:t>IMAGE SYNTHESIS</a:t>
            </a:r>
            <a:endParaRPr lang="en-US" sz="5200" dirty="0"/>
          </a:p>
        </p:txBody>
      </p:sp>
      <p:sp>
        <p:nvSpPr>
          <p:cNvPr id="6" name="Shape 4"/>
          <p:cNvSpPr/>
          <p:nvPr/>
        </p:nvSpPr>
        <p:spPr>
          <a:xfrm>
            <a:off x="365760" y="2514600"/>
            <a:ext cx="2194560" cy="384048"/>
          </a:xfrm>
          <a:prstGeom prst="rect">
            <a:avLst/>
          </a:prstGeom>
          <a:solidFill>
            <a:srgbClr val="0E7C7B"/>
          </a:solidFill>
          <a:ln w="12700">
            <a:solidFill>
              <a:srgbClr val="0E7C7B"/>
            </a:solidFill>
            <a:prstDash val="solid"/>
          </a:ln>
        </p:spPr>
      </p:sp>
      <p:sp>
        <p:nvSpPr>
          <p:cNvPr id="7" name="Text 5"/>
          <p:cNvSpPr/>
          <p:nvPr/>
        </p:nvSpPr>
        <p:spPr>
          <a:xfrm>
            <a:off x="365760" y="2514600"/>
            <a:ext cx="219456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5 — EVALUATION REPORT</a:t>
            </a:r>
            <a:endParaRPr lang="en-US" sz="900" dirty="0"/>
          </a:p>
        </p:txBody>
      </p:sp>
      <p:sp>
        <p:nvSpPr>
          <p:cNvPr id="8" name="Text 6"/>
          <p:cNvSpPr/>
          <p:nvPr/>
        </p:nvSpPr>
        <p:spPr>
          <a:xfrm>
            <a:off x="365760" y="3063240"/>
            <a:ext cx="8412480" cy="292608"/>
          </a:xfrm>
          <a:prstGeom prst="rect">
            <a:avLst/>
          </a:prstGeom>
          <a:noFill/>
          <a:ln/>
        </p:spPr>
        <p:txBody>
          <a:bodyPr wrap="square" lIns="0" tIns="0" rIns="0" bIns="0" rtlCol="0" anchor="ctr"/>
          <a:lstStyle/>
          <a:p>
            <a:pPr indent="0" marL="0">
              <a:buNone/>
            </a:pPr>
            <a:r>
              <a:rPr lang="en-US" sz="1300" b="1" dirty="0">
                <a:solidFill>
                  <a:srgbClr val="14A8A6"/>
                </a:solidFill>
                <a:latin typeface="Calibri" pitchFamily="34" charset="0"/>
                <a:ea typeface="Calibri" pitchFamily="34" charset="-122"/>
                <a:cs typeface="Calibri" pitchFamily="34" charset="-120"/>
              </a:rPr>
              <a:t>Team  </a:t>
            </a:r>
            <a:pPr indent="0" marL="0">
              <a:buNone/>
            </a:pPr>
            <a:r>
              <a:rPr lang="en-US" sz="1300" dirty="0">
                <a:solidFill>
                  <a:srgbClr val="FFFFFF"/>
                </a:solidFill>
                <a:latin typeface="Calibri" pitchFamily="34" charset="0"/>
                <a:ea typeface="Calibri" pitchFamily="34" charset="-122"/>
                <a:cs typeface="Calibri" pitchFamily="34" charset="-120"/>
              </a:rPr>
              <a:t>Moazzam (S2024CS009)  ·  Bilal Asif (S2024CS005)  ·  Muaz Ahmed (S2024CS016)</a:t>
            </a:r>
            <a:endParaRPr lang="en-US" sz="1300" dirty="0"/>
          </a:p>
        </p:txBody>
      </p:sp>
      <p:sp>
        <p:nvSpPr>
          <p:cNvPr id="9" name="Text 7"/>
          <p:cNvSpPr/>
          <p:nvPr/>
        </p:nvSpPr>
        <p:spPr>
          <a:xfrm>
            <a:off x="365760" y="3401568"/>
            <a:ext cx="8412480" cy="292608"/>
          </a:xfrm>
          <a:prstGeom prst="rect">
            <a:avLst/>
          </a:prstGeom>
          <a:noFill/>
          <a:ln/>
        </p:spPr>
        <p:txBody>
          <a:bodyPr wrap="square" lIns="0" tIns="0" rIns="0" bIns="0" rtlCol="0" anchor="ctr"/>
          <a:lstStyle/>
          <a:p>
            <a:pPr indent="0" marL="0">
              <a:buNone/>
            </a:pPr>
            <a:r>
              <a:rPr lang="en-US" sz="1300" b="1" dirty="0">
                <a:solidFill>
                  <a:srgbClr val="14A8A6"/>
                </a:solidFill>
                <a:latin typeface="Calibri" pitchFamily="34" charset="0"/>
                <a:ea typeface="Calibri" pitchFamily="34" charset="-122"/>
                <a:cs typeface="Calibri" pitchFamily="34" charset="-120"/>
              </a:rPr>
              <a:t>Instructor  </a:t>
            </a:r>
            <a:pPr indent="0" marL="0">
              <a:buNone/>
            </a:pPr>
            <a:r>
              <a:rPr lang="en-US" sz="1300" dirty="0">
                <a:solidFill>
                  <a:srgbClr val="FFFFFF"/>
                </a:solidFill>
                <a:latin typeface="Calibri" pitchFamily="34" charset="0"/>
                <a:ea typeface="Calibri" pitchFamily="34" charset="-122"/>
                <a:cs typeface="Calibri" pitchFamily="34" charset="-120"/>
              </a:rPr>
              <a:t>Lecturer Haseeb  ·  May 2026</a:t>
            </a:r>
            <a:endParaRPr lang="en-US" sz="1300" dirty="0"/>
          </a:p>
        </p:txBody>
      </p:sp>
      <p:sp>
        <p:nvSpPr>
          <p:cNvPr id="10" name="Text 8"/>
          <p:cNvSpPr/>
          <p:nvPr/>
        </p:nvSpPr>
        <p:spPr>
          <a:xfrm>
            <a:off x="365760" y="3730752"/>
            <a:ext cx="8412480" cy="292608"/>
          </a:xfrm>
          <a:prstGeom prst="rect">
            <a:avLst/>
          </a:prstGeom>
          <a:noFill/>
          <a:ln/>
        </p:spPr>
        <p:txBody>
          <a:bodyPr wrap="square" lIns="0" tIns="0" rIns="0" bIns="0" rtlCol="0" anchor="ctr"/>
          <a:lstStyle/>
          <a:p>
            <a:pPr indent="0" marL="0">
              <a:buNone/>
            </a:pPr>
            <a:r>
              <a:rPr lang="en-US" sz="1200" b="1" dirty="0">
                <a:solidFill>
                  <a:srgbClr val="14A8A6"/>
                </a:solidFill>
                <a:latin typeface="Calibri" pitchFamily="34" charset="0"/>
                <a:ea typeface="Calibri" pitchFamily="34" charset="-122"/>
                <a:cs typeface="Calibri" pitchFamily="34" charset="-120"/>
              </a:rPr>
              <a:t>GitHub  </a:t>
            </a:r>
            <a:pPr indent="0" marL="0">
              <a:buNone/>
            </a:pPr>
            <a:r>
              <a:rPr lang="en-US" sz="1200" dirty="0">
                <a:solidFill>
                  <a:srgbClr val="64748B"/>
                </a:solidFill>
                <a:latin typeface="Calibri" pitchFamily="34" charset="0"/>
                <a:ea typeface="Calibri" pitchFamily="34" charset="-122"/>
                <a:cs typeface="Calibri" pitchFamily="34" charset="-120"/>
              </a:rPr>
              <a:t>github.com/BILAL-ASIF-github/Sketch-to-FaceImage-Synthesis</a:t>
            </a:r>
            <a:endParaRPr lang="en-US" sz="1200" dirty="0"/>
          </a:p>
        </p:txBody>
      </p:sp>
      <p:sp>
        <p:nvSpPr>
          <p:cNvPr id="11" name="Shape 9"/>
          <p:cNvSpPr/>
          <p:nvPr/>
        </p:nvSpPr>
        <p:spPr>
          <a:xfrm>
            <a:off x="365760" y="4206240"/>
            <a:ext cx="1920240" cy="685800"/>
          </a:xfrm>
          <a:prstGeom prst="rect">
            <a:avLst/>
          </a:prstGeom>
          <a:solidFill>
            <a:srgbClr val="1E3A4C"/>
          </a:solidFill>
          <a:ln w="12700">
            <a:solidFill>
              <a:srgbClr val="0E7C7B"/>
            </a:solidFill>
            <a:prstDash val="solid"/>
          </a:ln>
        </p:spPr>
      </p:sp>
      <p:sp>
        <p:nvSpPr>
          <p:cNvPr id="12" name="Text 10"/>
          <p:cNvSpPr/>
          <p:nvPr/>
        </p:nvSpPr>
        <p:spPr>
          <a:xfrm>
            <a:off x="365760" y="4224528"/>
            <a:ext cx="1920240" cy="320040"/>
          </a:xfrm>
          <a:prstGeom prst="rect">
            <a:avLst/>
          </a:prstGeom>
          <a:noFill/>
          <a:ln/>
        </p:spPr>
        <p:txBody>
          <a:bodyPr wrap="square" lIns="0" tIns="0" rIns="0" bIns="0" rtlCol="0" anchor="ctr"/>
          <a:lstStyle/>
          <a:p>
            <a:pPr algn="ctr" indent="0" marL="0">
              <a:buNone/>
            </a:pPr>
            <a:r>
              <a:rPr lang="en-US" sz="2000" b="1" dirty="0">
                <a:solidFill>
                  <a:srgbClr val="0E7C7B"/>
                </a:solidFill>
                <a:latin typeface="Calibri" pitchFamily="34" charset="0"/>
                <a:ea typeface="Calibri" pitchFamily="34" charset="-122"/>
                <a:cs typeface="Calibri" pitchFamily="34" charset="-120"/>
              </a:rPr>
              <a:t>25,000</a:t>
            </a:r>
            <a:endParaRPr lang="en-US" sz="2000" dirty="0"/>
          </a:p>
        </p:txBody>
      </p:sp>
      <p:sp>
        <p:nvSpPr>
          <p:cNvPr id="13" name="Text 11"/>
          <p:cNvSpPr/>
          <p:nvPr/>
        </p:nvSpPr>
        <p:spPr>
          <a:xfrm>
            <a:off x="365760" y="4544568"/>
            <a:ext cx="192024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Training Images</a:t>
            </a:r>
            <a:endParaRPr lang="en-US" sz="900" dirty="0"/>
          </a:p>
        </p:txBody>
      </p:sp>
      <p:sp>
        <p:nvSpPr>
          <p:cNvPr id="14" name="Shape 12"/>
          <p:cNvSpPr/>
          <p:nvPr/>
        </p:nvSpPr>
        <p:spPr>
          <a:xfrm>
            <a:off x="2514600" y="4206240"/>
            <a:ext cx="1920240" cy="685800"/>
          </a:xfrm>
          <a:prstGeom prst="rect">
            <a:avLst/>
          </a:prstGeom>
          <a:solidFill>
            <a:srgbClr val="1E3A4C"/>
          </a:solidFill>
          <a:ln w="12700">
            <a:solidFill>
              <a:srgbClr val="0E7C7B"/>
            </a:solidFill>
            <a:prstDash val="solid"/>
          </a:ln>
        </p:spPr>
      </p:sp>
      <p:sp>
        <p:nvSpPr>
          <p:cNvPr id="15" name="Text 13"/>
          <p:cNvSpPr/>
          <p:nvPr/>
        </p:nvSpPr>
        <p:spPr>
          <a:xfrm>
            <a:off x="2514600" y="4224528"/>
            <a:ext cx="1920240" cy="320040"/>
          </a:xfrm>
          <a:prstGeom prst="rect">
            <a:avLst/>
          </a:prstGeom>
          <a:noFill/>
          <a:ln/>
        </p:spPr>
        <p:txBody>
          <a:bodyPr wrap="square" lIns="0" tIns="0" rIns="0" bIns="0" rtlCol="0" anchor="ctr"/>
          <a:lstStyle/>
          <a:p>
            <a:pPr algn="ctr" indent="0" marL="0">
              <a:buNone/>
            </a:pPr>
            <a:r>
              <a:rPr lang="en-US" sz="2000" b="1" dirty="0">
                <a:solidFill>
                  <a:srgbClr val="0E7C7B"/>
                </a:solidFill>
                <a:latin typeface="Calibri" pitchFamily="34" charset="0"/>
                <a:ea typeface="Calibri" pitchFamily="34" charset="-122"/>
                <a:cs typeface="Calibri" pitchFamily="34" charset="-120"/>
              </a:rPr>
              <a:t>256px</a:t>
            </a:r>
            <a:endParaRPr lang="en-US" sz="2000" dirty="0"/>
          </a:p>
        </p:txBody>
      </p:sp>
      <p:sp>
        <p:nvSpPr>
          <p:cNvPr id="16" name="Text 14"/>
          <p:cNvSpPr/>
          <p:nvPr/>
        </p:nvSpPr>
        <p:spPr>
          <a:xfrm>
            <a:off x="2514600" y="4544568"/>
            <a:ext cx="192024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Output Resolution</a:t>
            </a:r>
            <a:endParaRPr lang="en-US" sz="900" dirty="0"/>
          </a:p>
        </p:txBody>
      </p:sp>
      <p:sp>
        <p:nvSpPr>
          <p:cNvPr id="17" name="Shape 15"/>
          <p:cNvSpPr/>
          <p:nvPr/>
        </p:nvSpPr>
        <p:spPr>
          <a:xfrm>
            <a:off x="4663440" y="4206240"/>
            <a:ext cx="1920240" cy="685800"/>
          </a:xfrm>
          <a:prstGeom prst="rect">
            <a:avLst/>
          </a:prstGeom>
          <a:solidFill>
            <a:srgbClr val="1E3A4C"/>
          </a:solidFill>
          <a:ln w="12700">
            <a:solidFill>
              <a:srgbClr val="0E7C7B"/>
            </a:solidFill>
            <a:prstDash val="solid"/>
          </a:ln>
        </p:spPr>
      </p:sp>
      <p:sp>
        <p:nvSpPr>
          <p:cNvPr id="18" name="Text 16"/>
          <p:cNvSpPr/>
          <p:nvPr/>
        </p:nvSpPr>
        <p:spPr>
          <a:xfrm>
            <a:off x="4663440" y="4224528"/>
            <a:ext cx="1920240" cy="320040"/>
          </a:xfrm>
          <a:prstGeom prst="rect">
            <a:avLst/>
          </a:prstGeom>
          <a:noFill/>
          <a:ln/>
        </p:spPr>
        <p:txBody>
          <a:bodyPr wrap="square" lIns="0" tIns="0" rIns="0" bIns="0" rtlCol="0" anchor="ctr"/>
          <a:lstStyle/>
          <a:p>
            <a:pPr algn="ctr" indent="0" marL="0">
              <a:buNone/>
            </a:pPr>
            <a:r>
              <a:rPr lang="en-US" sz="2000" b="1" dirty="0">
                <a:solidFill>
                  <a:srgbClr val="0E7C7B"/>
                </a:solidFill>
                <a:latin typeface="Calibri" pitchFamily="34" charset="0"/>
                <a:ea typeface="Calibri" pitchFamily="34" charset="-122"/>
                <a:cs typeface="Calibri" pitchFamily="34" charset="-120"/>
              </a:rPr>
              <a:t>30 hrs</a:t>
            </a:r>
            <a:endParaRPr lang="en-US" sz="2000" dirty="0"/>
          </a:p>
        </p:txBody>
      </p:sp>
      <p:sp>
        <p:nvSpPr>
          <p:cNvPr id="19" name="Text 17"/>
          <p:cNvSpPr/>
          <p:nvPr/>
        </p:nvSpPr>
        <p:spPr>
          <a:xfrm>
            <a:off x="4663440" y="4544568"/>
            <a:ext cx="192024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Total Compute</a:t>
            </a:r>
            <a:endParaRPr lang="en-US" sz="900" dirty="0"/>
          </a:p>
        </p:txBody>
      </p:sp>
      <p:sp>
        <p:nvSpPr>
          <p:cNvPr id="20" name="Shape 18"/>
          <p:cNvSpPr/>
          <p:nvPr/>
        </p:nvSpPr>
        <p:spPr>
          <a:xfrm>
            <a:off x="6812280" y="4206240"/>
            <a:ext cx="1920240" cy="685800"/>
          </a:xfrm>
          <a:prstGeom prst="rect">
            <a:avLst/>
          </a:prstGeom>
          <a:solidFill>
            <a:srgbClr val="1E3A4C"/>
          </a:solidFill>
          <a:ln w="12700">
            <a:solidFill>
              <a:srgbClr val="0E7C7B"/>
            </a:solidFill>
            <a:prstDash val="solid"/>
          </a:ln>
        </p:spPr>
      </p:sp>
      <p:sp>
        <p:nvSpPr>
          <p:cNvPr id="21" name="Text 19"/>
          <p:cNvSpPr/>
          <p:nvPr/>
        </p:nvSpPr>
        <p:spPr>
          <a:xfrm>
            <a:off x="6812280" y="4224528"/>
            <a:ext cx="1920240" cy="320040"/>
          </a:xfrm>
          <a:prstGeom prst="rect">
            <a:avLst/>
          </a:prstGeom>
          <a:noFill/>
          <a:ln/>
        </p:spPr>
        <p:txBody>
          <a:bodyPr wrap="square" lIns="0" tIns="0" rIns="0" bIns="0" rtlCol="0" anchor="ctr"/>
          <a:lstStyle/>
          <a:p>
            <a:pPr algn="ctr" indent="0" marL="0">
              <a:buNone/>
            </a:pPr>
            <a:r>
              <a:rPr lang="en-US" sz="2000" b="1" dirty="0">
                <a:solidFill>
                  <a:srgbClr val="0E7C7B"/>
                </a:solidFill>
                <a:latin typeface="Calibri" pitchFamily="34" charset="0"/>
                <a:ea typeface="Calibri" pitchFamily="34" charset="-122"/>
                <a:cs typeface="Calibri" pitchFamily="34" charset="-120"/>
              </a:rPr>
              <a:t>0.296</a:t>
            </a:r>
            <a:endParaRPr lang="en-US" sz="2000" dirty="0"/>
          </a:p>
        </p:txBody>
      </p:sp>
      <p:sp>
        <p:nvSpPr>
          <p:cNvPr id="22" name="Text 20"/>
          <p:cNvSpPr/>
          <p:nvPr/>
        </p:nvSpPr>
        <p:spPr>
          <a:xfrm>
            <a:off x="6812280" y="4544568"/>
            <a:ext cx="192024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Best L1 Score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lIns="0" tIns="0" rIns="0" bIns="0" rtlCol="0" anchor="ctr"/>
          <a:lstStyle/>
          <a:p>
            <a:pPr indent="0" marL="0">
              <a:buNone/>
            </a:pPr>
            <a:r>
              <a:rPr lang="en-US" sz="1100" b="1" spc="300" kern="0" dirty="0">
                <a:solidFill>
                  <a:srgbClr val="0E7C7B"/>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457200" y="594360"/>
            <a:ext cx="8229600" cy="502920"/>
          </a:xfrm>
          <a:prstGeom prst="rect">
            <a:avLst/>
          </a:prstGeom>
          <a:noFill/>
          <a:ln/>
        </p:spPr>
        <p:txBody>
          <a:bodyPr wrap="square" lIns="0" tIns="0" rIns="0" bIns="0"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What We'll Cover Today</a:t>
            </a:r>
            <a:endParaRPr lang="en-US" sz="3000" dirty="0"/>
          </a:p>
        </p:txBody>
      </p:sp>
      <p:sp>
        <p:nvSpPr>
          <p:cNvPr id="4" name="Shape 2"/>
          <p:cNvSpPr/>
          <p:nvPr/>
        </p:nvSpPr>
        <p:spPr>
          <a:xfrm>
            <a:off x="457200" y="1234440"/>
            <a:ext cx="3931920" cy="749808"/>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457200" y="1234440"/>
            <a:ext cx="457200" cy="749808"/>
          </a:xfrm>
          <a:prstGeom prst="rect">
            <a:avLst/>
          </a:prstGeom>
          <a:solidFill>
            <a:srgbClr val="0E7C7B"/>
          </a:solidFill>
          <a:ln w="12700">
            <a:solidFill>
              <a:srgbClr val="0E7C7B"/>
            </a:solidFill>
            <a:prstDash val="solid"/>
          </a:ln>
        </p:spPr>
      </p:sp>
      <p:sp>
        <p:nvSpPr>
          <p:cNvPr id="6" name="Text 4"/>
          <p:cNvSpPr/>
          <p:nvPr/>
        </p:nvSpPr>
        <p:spPr>
          <a:xfrm>
            <a:off x="457200" y="1234440"/>
            <a:ext cx="457200"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987552" y="1289304"/>
            <a:ext cx="3291840" cy="292608"/>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Executive Summary</a:t>
            </a:r>
            <a:endParaRPr lang="en-US" sz="1300" dirty="0"/>
          </a:p>
        </p:txBody>
      </p:sp>
      <p:sp>
        <p:nvSpPr>
          <p:cNvPr id="8" name="Text 6"/>
          <p:cNvSpPr/>
          <p:nvPr/>
        </p:nvSpPr>
        <p:spPr>
          <a:xfrm>
            <a:off x="987552" y="1618488"/>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What we built and key numbers</a:t>
            </a:r>
            <a:endParaRPr lang="en-US" sz="1000" dirty="0"/>
          </a:p>
        </p:txBody>
      </p:sp>
      <p:sp>
        <p:nvSpPr>
          <p:cNvPr id="9" name="Shape 7"/>
          <p:cNvSpPr/>
          <p:nvPr/>
        </p:nvSpPr>
        <p:spPr>
          <a:xfrm>
            <a:off x="457200" y="2148840"/>
            <a:ext cx="3931920" cy="749808"/>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57200" y="2148840"/>
            <a:ext cx="457200" cy="749808"/>
          </a:xfrm>
          <a:prstGeom prst="rect">
            <a:avLst/>
          </a:prstGeom>
          <a:solidFill>
            <a:srgbClr val="0E7C7B"/>
          </a:solidFill>
          <a:ln w="12700">
            <a:solidFill>
              <a:srgbClr val="0E7C7B"/>
            </a:solidFill>
            <a:prstDash val="solid"/>
          </a:ln>
        </p:spPr>
      </p:sp>
      <p:sp>
        <p:nvSpPr>
          <p:cNvPr id="11" name="Text 9"/>
          <p:cNvSpPr/>
          <p:nvPr/>
        </p:nvSpPr>
        <p:spPr>
          <a:xfrm>
            <a:off x="457200" y="2148840"/>
            <a:ext cx="457200"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987552" y="2203704"/>
            <a:ext cx="3291840" cy="292608"/>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Evaluation Protocol</a:t>
            </a:r>
            <a:endParaRPr lang="en-US" sz="1300" dirty="0"/>
          </a:p>
        </p:txBody>
      </p:sp>
      <p:sp>
        <p:nvSpPr>
          <p:cNvPr id="13" name="Text 11"/>
          <p:cNvSpPr/>
          <p:nvPr/>
        </p:nvSpPr>
        <p:spPr>
          <a:xfrm>
            <a:off x="987552" y="2532888"/>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How we tested fairly</a:t>
            </a:r>
            <a:endParaRPr lang="en-US" sz="1000" dirty="0"/>
          </a:p>
        </p:txBody>
      </p:sp>
      <p:sp>
        <p:nvSpPr>
          <p:cNvPr id="14" name="Shape 12"/>
          <p:cNvSpPr/>
          <p:nvPr/>
        </p:nvSpPr>
        <p:spPr>
          <a:xfrm>
            <a:off x="457200" y="3063240"/>
            <a:ext cx="3931920" cy="749808"/>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57200" y="3063240"/>
            <a:ext cx="457200" cy="749808"/>
          </a:xfrm>
          <a:prstGeom prst="rect">
            <a:avLst/>
          </a:prstGeom>
          <a:solidFill>
            <a:srgbClr val="0E7C7B"/>
          </a:solidFill>
          <a:ln w="12700">
            <a:solidFill>
              <a:srgbClr val="0E7C7B"/>
            </a:solidFill>
            <a:prstDash val="solid"/>
          </a:ln>
        </p:spPr>
      </p:sp>
      <p:sp>
        <p:nvSpPr>
          <p:cNvPr id="16" name="Text 14"/>
          <p:cNvSpPr/>
          <p:nvPr/>
        </p:nvSpPr>
        <p:spPr>
          <a:xfrm>
            <a:off x="457200" y="3063240"/>
            <a:ext cx="457200"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987552" y="3118104"/>
            <a:ext cx="3291840" cy="292608"/>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Final Results</a:t>
            </a:r>
            <a:endParaRPr lang="en-US" sz="1300" dirty="0"/>
          </a:p>
        </p:txBody>
      </p:sp>
      <p:sp>
        <p:nvSpPr>
          <p:cNvPr id="18" name="Text 16"/>
          <p:cNvSpPr/>
          <p:nvPr/>
        </p:nvSpPr>
        <p:spPr>
          <a:xfrm>
            <a:off x="987552" y="3447288"/>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Numbers across all 3 models</a:t>
            </a:r>
            <a:endParaRPr lang="en-US" sz="1000" dirty="0"/>
          </a:p>
        </p:txBody>
      </p:sp>
      <p:sp>
        <p:nvSpPr>
          <p:cNvPr id="19" name="Shape 17"/>
          <p:cNvSpPr/>
          <p:nvPr/>
        </p:nvSpPr>
        <p:spPr>
          <a:xfrm>
            <a:off x="457200" y="3977640"/>
            <a:ext cx="3931920" cy="749808"/>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57200" y="3977640"/>
            <a:ext cx="457200" cy="749808"/>
          </a:xfrm>
          <a:prstGeom prst="rect">
            <a:avLst/>
          </a:prstGeom>
          <a:solidFill>
            <a:srgbClr val="0E7C7B"/>
          </a:solidFill>
          <a:ln w="12700">
            <a:solidFill>
              <a:srgbClr val="0E7C7B"/>
            </a:solidFill>
            <a:prstDash val="solid"/>
          </a:ln>
        </p:spPr>
      </p:sp>
      <p:sp>
        <p:nvSpPr>
          <p:cNvPr id="21" name="Text 19"/>
          <p:cNvSpPr/>
          <p:nvPr/>
        </p:nvSpPr>
        <p:spPr>
          <a:xfrm>
            <a:off x="457200" y="3977640"/>
            <a:ext cx="457200"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987552" y="4032504"/>
            <a:ext cx="3291840" cy="292608"/>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Ablation Studies</a:t>
            </a:r>
            <a:endParaRPr lang="en-US" sz="1300" dirty="0"/>
          </a:p>
        </p:txBody>
      </p:sp>
      <p:sp>
        <p:nvSpPr>
          <p:cNvPr id="23" name="Text 21"/>
          <p:cNvSpPr/>
          <p:nvPr/>
        </p:nvSpPr>
        <p:spPr>
          <a:xfrm>
            <a:off x="987552" y="4361688"/>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What actually matters</a:t>
            </a:r>
            <a:endParaRPr lang="en-US" sz="1000" dirty="0"/>
          </a:p>
        </p:txBody>
      </p:sp>
      <p:sp>
        <p:nvSpPr>
          <p:cNvPr id="24" name="Shape 22"/>
          <p:cNvSpPr/>
          <p:nvPr/>
        </p:nvSpPr>
        <p:spPr>
          <a:xfrm>
            <a:off x="4754880" y="1234440"/>
            <a:ext cx="3931920" cy="749808"/>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754880" y="1234440"/>
            <a:ext cx="457200" cy="749808"/>
          </a:xfrm>
          <a:prstGeom prst="rect">
            <a:avLst/>
          </a:prstGeom>
          <a:solidFill>
            <a:srgbClr val="0E7C7B"/>
          </a:solidFill>
          <a:ln w="12700">
            <a:solidFill>
              <a:srgbClr val="0E7C7B"/>
            </a:solidFill>
            <a:prstDash val="solid"/>
          </a:ln>
        </p:spPr>
      </p:sp>
      <p:sp>
        <p:nvSpPr>
          <p:cNvPr id="26" name="Text 24"/>
          <p:cNvSpPr/>
          <p:nvPr/>
        </p:nvSpPr>
        <p:spPr>
          <a:xfrm>
            <a:off x="4754880" y="1234440"/>
            <a:ext cx="457200"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7" name="Text 25"/>
          <p:cNvSpPr/>
          <p:nvPr/>
        </p:nvSpPr>
        <p:spPr>
          <a:xfrm>
            <a:off x="5285232" y="1289304"/>
            <a:ext cx="3291840" cy="292608"/>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Error &amp; Robustness</a:t>
            </a:r>
            <a:endParaRPr lang="en-US" sz="1300" dirty="0"/>
          </a:p>
        </p:txBody>
      </p:sp>
      <p:sp>
        <p:nvSpPr>
          <p:cNvPr id="28" name="Text 26"/>
          <p:cNvSpPr/>
          <p:nvPr/>
        </p:nvSpPr>
        <p:spPr>
          <a:xfrm>
            <a:off x="5285232" y="1618488"/>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Where it fails and why</a:t>
            </a:r>
            <a:endParaRPr lang="en-US" sz="1000" dirty="0"/>
          </a:p>
        </p:txBody>
      </p:sp>
      <p:sp>
        <p:nvSpPr>
          <p:cNvPr id="29" name="Shape 27"/>
          <p:cNvSpPr/>
          <p:nvPr/>
        </p:nvSpPr>
        <p:spPr>
          <a:xfrm>
            <a:off x="4754880" y="2148840"/>
            <a:ext cx="3931920" cy="749808"/>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4754880" y="2148840"/>
            <a:ext cx="457200" cy="749808"/>
          </a:xfrm>
          <a:prstGeom prst="rect">
            <a:avLst/>
          </a:prstGeom>
          <a:solidFill>
            <a:srgbClr val="0E7C7B"/>
          </a:solidFill>
          <a:ln w="12700">
            <a:solidFill>
              <a:srgbClr val="0E7C7B"/>
            </a:solidFill>
            <a:prstDash val="solid"/>
          </a:ln>
        </p:spPr>
      </p:sp>
      <p:sp>
        <p:nvSpPr>
          <p:cNvPr id="31" name="Text 29"/>
          <p:cNvSpPr/>
          <p:nvPr/>
        </p:nvSpPr>
        <p:spPr>
          <a:xfrm>
            <a:off x="4754880" y="2148840"/>
            <a:ext cx="457200"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2" name="Text 30"/>
          <p:cNvSpPr/>
          <p:nvPr/>
        </p:nvSpPr>
        <p:spPr>
          <a:xfrm>
            <a:off x="5285232" y="2203704"/>
            <a:ext cx="3291840" cy="292608"/>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Efficiency &amp; Comparison</a:t>
            </a:r>
            <a:endParaRPr lang="en-US" sz="1300" dirty="0"/>
          </a:p>
        </p:txBody>
      </p:sp>
      <p:sp>
        <p:nvSpPr>
          <p:cNvPr id="33" name="Text 31"/>
          <p:cNvSpPr/>
          <p:nvPr/>
        </p:nvSpPr>
        <p:spPr>
          <a:xfrm>
            <a:off x="5285232" y="2532888"/>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Speed, size, and published work</a:t>
            </a:r>
            <a:endParaRPr lang="en-US" sz="1000" dirty="0"/>
          </a:p>
        </p:txBody>
      </p:sp>
      <p:sp>
        <p:nvSpPr>
          <p:cNvPr id="34" name="Shape 32"/>
          <p:cNvSpPr/>
          <p:nvPr/>
        </p:nvSpPr>
        <p:spPr>
          <a:xfrm>
            <a:off x="4754880" y="3063240"/>
            <a:ext cx="3931920" cy="749808"/>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4754880" y="3063240"/>
            <a:ext cx="457200" cy="749808"/>
          </a:xfrm>
          <a:prstGeom prst="rect">
            <a:avLst/>
          </a:prstGeom>
          <a:solidFill>
            <a:srgbClr val="0E7C7B"/>
          </a:solidFill>
          <a:ln w="12700">
            <a:solidFill>
              <a:srgbClr val="0E7C7B"/>
            </a:solidFill>
            <a:prstDash val="solid"/>
          </a:ln>
        </p:spPr>
      </p:sp>
      <p:sp>
        <p:nvSpPr>
          <p:cNvPr id="36" name="Text 34"/>
          <p:cNvSpPr/>
          <p:nvPr/>
        </p:nvSpPr>
        <p:spPr>
          <a:xfrm>
            <a:off x="4754880" y="3063240"/>
            <a:ext cx="457200"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7" name="Text 35"/>
          <p:cNvSpPr/>
          <p:nvPr/>
        </p:nvSpPr>
        <p:spPr>
          <a:xfrm>
            <a:off x="5285232" y="3118104"/>
            <a:ext cx="3291840" cy="292608"/>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Statistics &amp; Limitations</a:t>
            </a:r>
            <a:endParaRPr lang="en-US" sz="1300" dirty="0"/>
          </a:p>
        </p:txBody>
      </p:sp>
      <p:sp>
        <p:nvSpPr>
          <p:cNvPr id="38" name="Text 36"/>
          <p:cNvSpPr/>
          <p:nvPr/>
        </p:nvSpPr>
        <p:spPr>
          <a:xfrm>
            <a:off x="5285232" y="3447288"/>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Honest assessment</a:t>
            </a:r>
            <a:endParaRPr lang="en-US" sz="1000" dirty="0"/>
          </a:p>
        </p:txBody>
      </p:sp>
      <p:sp>
        <p:nvSpPr>
          <p:cNvPr id="39" name="Shape 37"/>
          <p:cNvSpPr/>
          <p:nvPr/>
        </p:nvSpPr>
        <p:spPr>
          <a:xfrm>
            <a:off x="4754880" y="3977640"/>
            <a:ext cx="3931920" cy="749808"/>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4754880" y="3977640"/>
            <a:ext cx="457200" cy="749808"/>
          </a:xfrm>
          <a:prstGeom prst="rect">
            <a:avLst/>
          </a:prstGeom>
          <a:solidFill>
            <a:srgbClr val="0E7C7B"/>
          </a:solidFill>
          <a:ln w="12700">
            <a:solidFill>
              <a:srgbClr val="0E7C7B"/>
            </a:solidFill>
            <a:prstDash val="solid"/>
          </a:ln>
        </p:spPr>
      </p:sp>
      <p:sp>
        <p:nvSpPr>
          <p:cNvPr id="41" name="Text 39"/>
          <p:cNvSpPr/>
          <p:nvPr/>
        </p:nvSpPr>
        <p:spPr>
          <a:xfrm>
            <a:off x="4754880" y="3977640"/>
            <a:ext cx="457200"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2" name="Text 40"/>
          <p:cNvSpPr/>
          <p:nvPr/>
        </p:nvSpPr>
        <p:spPr>
          <a:xfrm>
            <a:off x="5285232" y="4032504"/>
            <a:ext cx="3291840" cy="292608"/>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Phase 6 Plan</a:t>
            </a:r>
            <a:endParaRPr lang="en-US" sz="1300" dirty="0"/>
          </a:p>
        </p:txBody>
      </p:sp>
      <p:sp>
        <p:nvSpPr>
          <p:cNvPr id="43" name="Text 41"/>
          <p:cNvSpPr/>
          <p:nvPr/>
        </p:nvSpPr>
        <p:spPr>
          <a:xfrm>
            <a:off x="5285232" y="4361688"/>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What's next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200" kern="0" dirty="0">
                <a:solidFill>
                  <a:srgbClr val="0E7C7B"/>
                </a:solidFill>
                <a:latin typeface="Calibri" pitchFamily="34" charset="0"/>
                <a:ea typeface="Calibri" pitchFamily="34" charset="-122"/>
                <a:cs typeface="Calibri" pitchFamily="34" charset="-120"/>
              </a:rPr>
              <a:t>01  —  EXECUTIVE SUMMARY</a:t>
            </a:r>
            <a:endParaRPr lang="en-US" sz="10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Sketch → Realistic Face Photo</a:t>
            </a:r>
            <a:endParaRPr lang="en-US" sz="2800" dirty="0"/>
          </a:p>
        </p:txBody>
      </p:sp>
      <p:sp>
        <p:nvSpPr>
          <p:cNvPr id="4" name="Shape 2"/>
          <p:cNvSpPr/>
          <p:nvPr/>
        </p:nvSpPr>
        <p:spPr>
          <a:xfrm>
            <a:off x="274320" y="1115568"/>
            <a:ext cx="1051560" cy="438912"/>
          </a:xfrm>
          <a:prstGeom prst="rect">
            <a:avLst/>
          </a:prstGeom>
          <a:solidFill>
            <a:srgbClr val="0E7C7B"/>
          </a:solidFill>
          <a:ln w="12700">
            <a:solidFill>
              <a:srgbClr val="0E7C7B"/>
            </a:solidFill>
            <a:prstDash val="solid"/>
          </a:ln>
        </p:spPr>
      </p:sp>
      <p:sp>
        <p:nvSpPr>
          <p:cNvPr id="5" name="Text 3"/>
          <p:cNvSpPr/>
          <p:nvPr/>
        </p:nvSpPr>
        <p:spPr>
          <a:xfrm>
            <a:off x="274320" y="1115568"/>
            <a:ext cx="105156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Photo</a:t>
            </a:r>
            <a:endParaRPr lang="en-US" sz="1000" dirty="0"/>
          </a:p>
        </p:txBody>
      </p:sp>
      <p:sp>
        <p:nvSpPr>
          <p:cNvPr id="6" name="Shape 4"/>
          <p:cNvSpPr/>
          <p:nvPr/>
        </p:nvSpPr>
        <p:spPr>
          <a:xfrm>
            <a:off x="1719072" y="1115568"/>
            <a:ext cx="1188720" cy="438912"/>
          </a:xfrm>
          <a:prstGeom prst="rect">
            <a:avLst/>
          </a:prstGeom>
          <a:solidFill>
            <a:srgbClr val="EEF4F7"/>
          </a:solidFill>
          <a:ln w="12700">
            <a:solidFill>
              <a:srgbClr val="D0DDE5"/>
            </a:solidFill>
            <a:prstDash val="solid"/>
          </a:ln>
        </p:spPr>
      </p:sp>
      <p:sp>
        <p:nvSpPr>
          <p:cNvPr id="7" name="Text 5"/>
          <p:cNvSpPr/>
          <p:nvPr/>
        </p:nvSpPr>
        <p:spPr>
          <a:xfrm>
            <a:off x="1719072" y="1115568"/>
            <a:ext cx="118872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  Bilateral Filter</a:t>
            </a:r>
            <a:endParaRPr lang="en-US" sz="900" dirty="0"/>
          </a:p>
        </p:txBody>
      </p:sp>
      <p:sp>
        <p:nvSpPr>
          <p:cNvPr id="8" name="Shape 6"/>
          <p:cNvSpPr/>
          <p:nvPr/>
        </p:nvSpPr>
        <p:spPr>
          <a:xfrm>
            <a:off x="3163824" y="1115568"/>
            <a:ext cx="1188720" cy="438912"/>
          </a:xfrm>
          <a:prstGeom prst="rect">
            <a:avLst/>
          </a:prstGeom>
          <a:solidFill>
            <a:srgbClr val="EEF4F7"/>
          </a:solidFill>
          <a:ln w="12700">
            <a:solidFill>
              <a:srgbClr val="D0DDE5"/>
            </a:solidFill>
            <a:prstDash val="solid"/>
          </a:ln>
        </p:spPr>
      </p:sp>
      <p:sp>
        <p:nvSpPr>
          <p:cNvPr id="9" name="Text 7"/>
          <p:cNvSpPr/>
          <p:nvPr/>
        </p:nvSpPr>
        <p:spPr>
          <a:xfrm>
            <a:off x="3163824" y="1115568"/>
            <a:ext cx="118872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  Canny Edges</a:t>
            </a:r>
            <a:endParaRPr lang="en-US" sz="900" dirty="0"/>
          </a:p>
        </p:txBody>
      </p:sp>
      <p:sp>
        <p:nvSpPr>
          <p:cNvPr id="10" name="Shape 8"/>
          <p:cNvSpPr/>
          <p:nvPr/>
        </p:nvSpPr>
        <p:spPr>
          <a:xfrm>
            <a:off x="4608576" y="1115568"/>
            <a:ext cx="1188720" cy="438912"/>
          </a:xfrm>
          <a:prstGeom prst="rect">
            <a:avLst/>
          </a:prstGeom>
          <a:solidFill>
            <a:srgbClr val="EEF4F7"/>
          </a:solidFill>
          <a:ln w="12700">
            <a:solidFill>
              <a:srgbClr val="D0DDE5"/>
            </a:solidFill>
            <a:prstDash val="solid"/>
          </a:ln>
        </p:spPr>
      </p:sp>
      <p:sp>
        <p:nvSpPr>
          <p:cNvPr id="11" name="Text 9"/>
          <p:cNvSpPr/>
          <p:nvPr/>
        </p:nvSpPr>
        <p:spPr>
          <a:xfrm>
            <a:off x="4608576" y="1115568"/>
            <a:ext cx="118872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  Dilate</a:t>
            </a:r>
            <a:endParaRPr lang="en-US" sz="900" dirty="0"/>
          </a:p>
        </p:txBody>
      </p:sp>
      <p:sp>
        <p:nvSpPr>
          <p:cNvPr id="12" name="Shape 10"/>
          <p:cNvSpPr/>
          <p:nvPr/>
        </p:nvSpPr>
        <p:spPr>
          <a:xfrm>
            <a:off x="6053328" y="1115568"/>
            <a:ext cx="1188720" cy="438912"/>
          </a:xfrm>
          <a:prstGeom prst="rect">
            <a:avLst/>
          </a:prstGeom>
          <a:solidFill>
            <a:srgbClr val="EEF4F7"/>
          </a:solidFill>
          <a:ln w="12700">
            <a:solidFill>
              <a:srgbClr val="D0DDE5"/>
            </a:solidFill>
            <a:prstDash val="solid"/>
          </a:ln>
        </p:spPr>
      </p:sp>
      <p:sp>
        <p:nvSpPr>
          <p:cNvPr id="13" name="Text 11"/>
          <p:cNvSpPr/>
          <p:nvPr/>
        </p:nvSpPr>
        <p:spPr>
          <a:xfrm>
            <a:off x="6053328" y="1115568"/>
            <a:ext cx="118872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  pSp Model</a:t>
            </a:r>
            <a:endParaRPr lang="en-US" sz="900" dirty="0"/>
          </a:p>
        </p:txBody>
      </p:sp>
      <p:sp>
        <p:nvSpPr>
          <p:cNvPr id="14" name="Shape 12"/>
          <p:cNvSpPr/>
          <p:nvPr/>
        </p:nvSpPr>
        <p:spPr>
          <a:xfrm>
            <a:off x="7498080" y="1115568"/>
            <a:ext cx="1188720" cy="438912"/>
          </a:xfrm>
          <a:prstGeom prst="rect">
            <a:avLst/>
          </a:prstGeom>
          <a:solidFill>
            <a:srgbClr val="EEF4F7"/>
          </a:solidFill>
          <a:ln w="12700">
            <a:solidFill>
              <a:srgbClr val="D0DDE5"/>
            </a:solidFill>
            <a:prstDash val="solid"/>
          </a:ln>
        </p:spPr>
      </p:sp>
      <p:sp>
        <p:nvSpPr>
          <p:cNvPr id="15" name="Text 13"/>
          <p:cNvSpPr/>
          <p:nvPr/>
        </p:nvSpPr>
        <p:spPr>
          <a:xfrm>
            <a:off x="7498080" y="1115568"/>
            <a:ext cx="118872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  Face Output</a:t>
            </a:r>
            <a:endParaRPr lang="en-US" sz="900" dirty="0"/>
          </a:p>
        </p:txBody>
      </p:sp>
      <p:sp>
        <p:nvSpPr>
          <p:cNvPr id="16" name="Shape 14"/>
          <p:cNvSpPr/>
          <p:nvPr/>
        </p:nvSpPr>
        <p:spPr>
          <a:xfrm>
            <a:off x="274320" y="1737360"/>
            <a:ext cx="2743200" cy="137160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274320" y="1737360"/>
            <a:ext cx="2743200" cy="91440"/>
          </a:xfrm>
          <a:prstGeom prst="rect">
            <a:avLst/>
          </a:prstGeom>
          <a:solidFill>
            <a:srgbClr val="0E7C7B"/>
          </a:solidFill>
          <a:ln w="12700">
            <a:solidFill>
              <a:srgbClr val="0E7C7B"/>
            </a:solidFill>
            <a:prstDash val="solid"/>
          </a:ln>
        </p:spPr>
      </p:sp>
      <p:sp>
        <p:nvSpPr>
          <p:cNvPr id="18" name="Text 16"/>
          <p:cNvSpPr/>
          <p:nvPr/>
        </p:nvSpPr>
        <p:spPr>
          <a:xfrm>
            <a:off x="411480" y="1874520"/>
            <a:ext cx="2468880" cy="292608"/>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  Best Custom Model</a:t>
            </a:r>
            <a:endParaRPr lang="en-US" sz="1200" dirty="0"/>
          </a:p>
        </p:txBody>
      </p:sp>
      <p:sp>
        <p:nvSpPr>
          <p:cNvPr id="19" name="Text 17"/>
          <p:cNvSpPr/>
          <p:nvPr/>
        </p:nvSpPr>
        <p:spPr>
          <a:xfrm>
            <a:off x="411480" y="2212848"/>
            <a:ext cx="2468880" cy="77724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Phase 4 ResNet-50 with differential LR</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L1 = 0.2960  ·  LPIPS = 0.677</a:t>
            </a:r>
            <a:endParaRPr lang="en-US" sz="1050" dirty="0"/>
          </a:p>
        </p:txBody>
      </p:sp>
      <p:sp>
        <p:nvSpPr>
          <p:cNvPr id="20" name="Shape 18"/>
          <p:cNvSpPr/>
          <p:nvPr/>
        </p:nvSpPr>
        <p:spPr>
          <a:xfrm>
            <a:off x="3218688" y="1737360"/>
            <a:ext cx="2743200" cy="137160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218688" y="1737360"/>
            <a:ext cx="2743200" cy="91440"/>
          </a:xfrm>
          <a:prstGeom prst="rect">
            <a:avLst/>
          </a:prstGeom>
          <a:solidFill>
            <a:srgbClr val="0D1B2A"/>
          </a:solidFill>
          <a:ln w="12700">
            <a:solidFill>
              <a:srgbClr val="0D1B2A"/>
            </a:solidFill>
            <a:prstDash val="solid"/>
          </a:ln>
        </p:spPr>
      </p:sp>
      <p:sp>
        <p:nvSpPr>
          <p:cNvPr id="22" name="Text 20"/>
          <p:cNvSpPr/>
          <p:nvPr/>
        </p:nvSpPr>
        <p:spPr>
          <a:xfrm>
            <a:off x="3355848" y="1874520"/>
            <a:ext cx="2468880" cy="292608"/>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  Key Ablation Win</a:t>
            </a:r>
            <a:endParaRPr lang="en-US" sz="1200" dirty="0"/>
          </a:p>
        </p:txBody>
      </p:sp>
      <p:sp>
        <p:nvSpPr>
          <p:cNvPr id="23" name="Text 21"/>
          <p:cNvSpPr/>
          <p:nvPr/>
        </p:nvSpPr>
        <p:spPr>
          <a:xfrm>
            <a:off x="3355848" y="2212848"/>
            <a:ext cx="2468880" cy="77724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Transfer learning (Config C) cut val L1</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by 19.3% vs training from scratch</a:t>
            </a:r>
            <a:endParaRPr lang="en-US" sz="1050" dirty="0"/>
          </a:p>
        </p:txBody>
      </p:sp>
      <p:sp>
        <p:nvSpPr>
          <p:cNvPr id="24" name="Shape 22"/>
          <p:cNvSpPr/>
          <p:nvPr/>
        </p:nvSpPr>
        <p:spPr>
          <a:xfrm>
            <a:off x="6163056" y="1737360"/>
            <a:ext cx="2743200" cy="137160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6163056" y="1737360"/>
            <a:ext cx="2743200" cy="91440"/>
          </a:xfrm>
          <a:prstGeom prst="rect">
            <a:avLst/>
          </a:prstGeom>
          <a:solidFill>
            <a:srgbClr val="E84855"/>
          </a:solidFill>
          <a:ln w="12700">
            <a:solidFill>
              <a:srgbClr val="E84855"/>
            </a:solidFill>
            <a:prstDash val="solid"/>
          </a:ln>
        </p:spPr>
      </p:sp>
      <p:sp>
        <p:nvSpPr>
          <p:cNvPr id="26" name="Text 24"/>
          <p:cNvSpPr/>
          <p:nvPr/>
        </p:nvSpPr>
        <p:spPr>
          <a:xfrm>
            <a:off x="6300216" y="1874520"/>
            <a:ext cx="2468880" cy="292608"/>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  Main Limitation</a:t>
            </a:r>
            <a:endParaRPr lang="en-US" sz="1200" dirty="0"/>
          </a:p>
        </p:txBody>
      </p:sp>
      <p:sp>
        <p:nvSpPr>
          <p:cNvPr id="27" name="Text 25"/>
          <p:cNvSpPr/>
          <p:nvPr/>
        </p:nvSpPr>
        <p:spPr>
          <a:xfrm>
            <a:off x="6300216" y="2212848"/>
            <a:ext cx="2468880" cy="77724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Fails on real hand-drawn forensic sketches.</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Not ready for deployment.</a:t>
            </a:r>
            <a:endParaRPr lang="en-US" sz="1050" dirty="0"/>
          </a:p>
        </p:txBody>
      </p:sp>
      <p:sp>
        <p:nvSpPr>
          <p:cNvPr id="28" name="Shape 26"/>
          <p:cNvSpPr/>
          <p:nvPr/>
        </p:nvSpPr>
        <p:spPr>
          <a:xfrm>
            <a:off x="274320" y="3291840"/>
            <a:ext cx="2743200" cy="914400"/>
          </a:xfrm>
          <a:prstGeom prst="rect">
            <a:avLst/>
          </a:prstGeom>
          <a:solidFill>
            <a:srgbClr val="0D1B2A"/>
          </a:solidFill>
          <a:ln w="12700">
            <a:solidFill>
              <a:srgbClr val="0D1B2A"/>
            </a:solidFill>
            <a:prstDash val="solid"/>
          </a:ln>
        </p:spPr>
      </p:sp>
      <p:sp>
        <p:nvSpPr>
          <p:cNvPr id="29" name="Text 27"/>
          <p:cNvSpPr/>
          <p:nvPr/>
        </p:nvSpPr>
        <p:spPr>
          <a:xfrm>
            <a:off x="274320" y="3337560"/>
            <a:ext cx="2743200" cy="457200"/>
          </a:xfrm>
          <a:prstGeom prst="rect">
            <a:avLst/>
          </a:prstGeom>
          <a:noFill/>
          <a:ln/>
        </p:spPr>
        <p:txBody>
          <a:bodyPr wrap="square" lIns="0" tIns="0" rIns="0" bIns="0" rtlCol="0" anchor="ctr"/>
          <a:lstStyle/>
          <a:p>
            <a:pPr algn="ctr" indent="0" marL="0">
              <a:buNone/>
            </a:pPr>
            <a:r>
              <a:rPr lang="en-US" sz="2600" b="1" dirty="0">
                <a:solidFill>
                  <a:srgbClr val="0E7C7B"/>
                </a:solidFill>
                <a:latin typeface="Calibri" pitchFamily="34" charset="0"/>
                <a:ea typeface="Calibri" pitchFamily="34" charset="-122"/>
                <a:cs typeface="Calibri" pitchFamily="34" charset="-120"/>
              </a:rPr>
              <a:t>0.2374</a:t>
            </a:r>
            <a:endParaRPr lang="en-US" sz="2600" dirty="0"/>
          </a:p>
        </p:txBody>
      </p:sp>
      <p:sp>
        <p:nvSpPr>
          <p:cNvPr id="30" name="Text 28"/>
          <p:cNvSpPr/>
          <p:nvPr/>
        </p:nvSpPr>
        <p:spPr>
          <a:xfrm>
            <a:off x="274320" y="3794760"/>
            <a:ext cx="2743200" cy="36576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Official pSp L1</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(pretrained reference)</a:t>
            </a:r>
            <a:endParaRPr lang="en-US" sz="900" dirty="0"/>
          </a:p>
        </p:txBody>
      </p:sp>
      <p:sp>
        <p:nvSpPr>
          <p:cNvPr id="31" name="Shape 29"/>
          <p:cNvSpPr/>
          <p:nvPr/>
        </p:nvSpPr>
        <p:spPr>
          <a:xfrm>
            <a:off x="3218688" y="3291840"/>
            <a:ext cx="2743200" cy="914400"/>
          </a:xfrm>
          <a:prstGeom prst="rect">
            <a:avLst/>
          </a:prstGeom>
          <a:solidFill>
            <a:srgbClr val="0D1B2A"/>
          </a:solidFill>
          <a:ln w="12700">
            <a:solidFill>
              <a:srgbClr val="0D1B2A"/>
            </a:solidFill>
            <a:prstDash val="solid"/>
          </a:ln>
        </p:spPr>
      </p:sp>
      <p:sp>
        <p:nvSpPr>
          <p:cNvPr id="32" name="Text 30"/>
          <p:cNvSpPr/>
          <p:nvPr/>
        </p:nvSpPr>
        <p:spPr>
          <a:xfrm>
            <a:off x="3218688" y="3337560"/>
            <a:ext cx="2743200" cy="457200"/>
          </a:xfrm>
          <a:prstGeom prst="rect">
            <a:avLst/>
          </a:prstGeom>
          <a:noFill/>
          <a:ln/>
        </p:spPr>
        <p:txBody>
          <a:bodyPr wrap="square" lIns="0" tIns="0" rIns="0" bIns="0" rtlCol="0" anchor="ctr"/>
          <a:lstStyle/>
          <a:p>
            <a:pPr algn="ctr" indent="0" marL="0">
              <a:buNone/>
            </a:pPr>
            <a:r>
              <a:rPr lang="en-US" sz="2600" b="1" dirty="0">
                <a:solidFill>
                  <a:srgbClr val="0E7C7B"/>
                </a:solidFill>
                <a:latin typeface="Calibri" pitchFamily="34" charset="0"/>
                <a:ea typeface="Calibri" pitchFamily="34" charset="-122"/>
                <a:cs typeface="Calibri" pitchFamily="34" charset="-120"/>
              </a:rPr>
              <a:t>0.2960</a:t>
            </a:r>
            <a:endParaRPr lang="en-US" sz="2600" dirty="0"/>
          </a:p>
        </p:txBody>
      </p:sp>
      <p:sp>
        <p:nvSpPr>
          <p:cNvPr id="33" name="Text 31"/>
          <p:cNvSpPr/>
          <p:nvPr/>
        </p:nvSpPr>
        <p:spPr>
          <a:xfrm>
            <a:off x="3218688" y="3794760"/>
            <a:ext cx="2743200" cy="36576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Phase 4 L1</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(our best model)</a:t>
            </a:r>
            <a:endParaRPr lang="en-US" sz="900" dirty="0"/>
          </a:p>
        </p:txBody>
      </p:sp>
      <p:sp>
        <p:nvSpPr>
          <p:cNvPr id="34" name="Shape 32"/>
          <p:cNvSpPr/>
          <p:nvPr/>
        </p:nvSpPr>
        <p:spPr>
          <a:xfrm>
            <a:off x="6163056" y="3291840"/>
            <a:ext cx="2743200" cy="914400"/>
          </a:xfrm>
          <a:prstGeom prst="rect">
            <a:avLst/>
          </a:prstGeom>
          <a:solidFill>
            <a:srgbClr val="0D1B2A"/>
          </a:solidFill>
          <a:ln w="12700">
            <a:solidFill>
              <a:srgbClr val="0D1B2A"/>
            </a:solidFill>
            <a:prstDash val="solid"/>
          </a:ln>
        </p:spPr>
      </p:sp>
      <p:sp>
        <p:nvSpPr>
          <p:cNvPr id="35" name="Text 33"/>
          <p:cNvSpPr/>
          <p:nvPr/>
        </p:nvSpPr>
        <p:spPr>
          <a:xfrm>
            <a:off x="6163056" y="3337560"/>
            <a:ext cx="2743200" cy="457200"/>
          </a:xfrm>
          <a:prstGeom prst="rect">
            <a:avLst/>
          </a:prstGeom>
          <a:noFill/>
          <a:ln/>
        </p:spPr>
        <p:txBody>
          <a:bodyPr wrap="square" lIns="0" tIns="0" rIns="0" bIns="0" rtlCol="0" anchor="ctr"/>
          <a:lstStyle/>
          <a:p>
            <a:pPr algn="ctr" indent="0" marL="0">
              <a:buNone/>
            </a:pPr>
            <a:r>
              <a:rPr lang="en-US" sz="2600" b="1" dirty="0">
                <a:solidFill>
                  <a:srgbClr val="0E7C7B"/>
                </a:solidFill>
                <a:latin typeface="Calibri" pitchFamily="34" charset="0"/>
                <a:ea typeface="Calibri" pitchFamily="34" charset="-122"/>
                <a:cs typeface="Calibri" pitchFamily="34" charset="-120"/>
              </a:rPr>
              <a:t>0.4190</a:t>
            </a:r>
            <a:endParaRPr lang="en-US" sz="2600" dirty="0"/>
          </a:p>
        </p:txBody>
      </p:sp>
      <p:sp>
        <p:nvSpPr>
          <p:cNvPr id="36" name="Text 34"/>
          <p:cNvSpPr/>
          <p:nvPr/>
        </p:nvSpPr>
        <p:spPr>
          <a:xfrm>
            <a:off x="6163056" y="3794760"/>
            <a:ext cx="2743200" cy="36576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MLP Baseline L1</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(Phase 2 sanity check)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200" kern="0" dirty="0">
                <a:solidFill>
                  <a:srgbClr val="14A8A6"/>
                </a:solidFill>
                <a:latin typeface="Calibri" pitchFamily="34" charset="0"/>
                <a:ea typeface="Calibri" pitchFamily="34" charset="-122"/>
                <a:cs typeface="Calibri" pitchFamily="34" charset="-120"/>
              </a:rPr>
              <a:t>02  —  EVALUATION PROTOCOL</a:t>
            </a:r>
            <a:endParaRPr lang="en-US" sz="100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Clean, Reproducible Test Ceremony</a:t>
            </a:r>
            <a:endParaRPr lang="en-US" sz="2800" dirty="0"/>
          </a:p>
        </p:txBody>
      </p:sp>
      <p:sp>
        <p:nvSpPr>
          <p:cNvPr id="4" name="Shape 2"/>
          <p:cNvSpPr/>
          <p:nvPr/>
        </p:nvSpPr>
        <p:spPr>
          <a:xfrm>
            <a:off x="365760" y="1188720"/>
            <a:ext cx="3200400" cy="3566160"/>
          </a:xfrm>
          <a:prstGeom prst="rect">
            <a:avLst/>
          </a:prstGeom>
          <a:solidFill>
            <a:srgbClr val="1E3A4C"/>
          </a:solidFill>
          <a:ln w="12700">
            <a:solidFill>
              <a:srgbClr val="0E7C7B"/>
            </a:solidFill>
            <a:prstDash val="solid"/>
          </a:ln>
        </p:spPr>
      </p:sp>
      <p:sp>
        <p:nvSpPr>
          <p:cNvPr id="5" name="Text 3"/>
          <p:cNvSpPr/>
          <p:nvPr/>
        </p:nvSpPr>
        <p:spPr>
          <a:xfrm>
            <a:off x="548640" y="1325880"/>
            <a:ext cx="2834640" cy="32004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Dataset Split</a:t>
            </a:r>
            <a:endParaRPr lang="en-US" sz="1400" dirty="0"/>
          </a:p>
        </p:txBody>
      </p:sp>
      <p:sp>
        <p:nvSpPr>
          <p:cNvPr id="6" name="Shape 4"/>
          <p:cNvSpPr/>
          <p:nvPr/>
        </p:nvSpPr>
        <p:spPr>
          <a:xfrm>
            <a:off x="548640" y="1755648"/>
            <a:ext cx="109728" cy="457200"/>
          </a:xfrm>
          <a:prstGeom prst="rect">
            <a:avLst/>
          </a:prstGeom>
          <a:solidFill>
            <a:srgbClr val="0E7C7B"/>
          </a:solidFill>
          <a:ln w="12700">
            <a:solidFill>
              <a:srgbClr val="0E7C7B"/>
            </a:solidFill>
            <a:prstDash val="solid"/>
          </a:ln>
        </p:spPr>
      </p:sp>
      <p:sp>
        <p:nvSpPr>
          <p:cNvPr id="7" name="Text 5"/>
          <p:cNvSpPr/>
          <p:nvPr/>
        </p:nvSpPr>
        <p:spPr>
          <a:xfrm>
            <a:off x="749808" y="1764792"/>
            <a:ext cx="13716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Training</a:t>
            </a:r>
            <a:endParaRPr lang="en-US" sz="1100" dirty="0"/>
          </a:p>
        </p:txBody>
      </p:sp>
      <p:sp>
        <p:nvSpPr>
          <p:cNvPr id="8" name="Text 6"/>
          <p:cNvSpPr/>
          <p:nvPr/>
        </p:nvSpPr>
        <p:spPr>
          <a:xfrm>
            <a:off x="749808" y="1993392"/>
            <a:ext cx="256032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20,000  images  (80%)</a:t>
            </a:r>
            <a:endParaRPr lang="en-US" sz="1000" dirty="0"/>
          </a:p>
        </p:txBody>
      </p:sp>
      <p:sp>
        <p:nvSpPr>
          <p:cNvPr id="9" name="Shape 7"/>
          <p:cNvSpPr/>
          <p:nvPr/>
        </p:nvSpPr>
        <p:spPr>
          <a:xfrm>
            <a:off x="548640" y="2441448"/>
            <a:ext cx="109728" cy="457200"/>
          </a:xfrm>
          <a:prstGeom prst="rect">
            <a:avLst/>
          </a:prstGeom>
          <a:solidFill>
            <a:srgbClr val="14A8A6"/>
          </a:solidFill>
          <a:ln w="12700">
            <a:solidFill>
              <a:srgbClr val="14A8A6"/>
            </a:solidFill>
            <a:prstDash val="solid"/>
          </a:ln>
        </p:spPr>
      </p:sp>
      <p:sp>
        <p:nvSpPr>
          <p:cNvPr id="10" name="Text 8"/>
          <p:cNvSpPr/>
          <p:nvPr/>
        </p:nvSpPr>
        <p:spPr>
          <a:xfrm>
            <a:off x="749808" y="2450592"/>
            <a:ext cx="13716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Validation</a:t>
            </a:r>
            <a:endParaRPr lang="en-US" sz="1100" dirty="0"/>
          </a:p>
        </p:txBody>
      </p:sp>
      <p:sp>
        <p:nvSpPr>
          <p:cNvPr id="11" name="Text 9"/>
          <p:cNvSpPr/>
          <p:nvPr/>
        </p:nvSpPr>
        <p:spPr>
          <a:xfrm>
            <a:off x="749808" y="2679192"/>
            <a:ext cx="256032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2,500  images  (10%)</a:t>
            </a:r>
            <a:endParaRPr lang="en-US" sz="1000" dirty="0"/>
          </a:p>
        </p:txBody>
      </p:sp>
      <p:sp>
        <p:nvSpPr>
          <p:cNvPr id="12" name="Shape 10"/>
          <p:cNvSpPr/>
          <p:nvPr/>
        </p:nvSpPr>
        <p:spPr>
          <a:xfrm>
            <a:off x="548640" y="3127248"/>
            <a:ext cx="109728" cy="457200"/>
          </a:xfrm>
          <a:prstGeom prst="rect">
            <a:avLst/>
          </a:prstGeom>
          <a:solidFill>
            <a:srgbClr val="F5A623"/>
          </a:solidFill>
          <a:ln w="12700">
            <a:solidFill>
              <a:srgbClr val="F5A623"/>
            </a:solidFill>
            <a:prstDash val="solid"/>
          </a:ln>
        </p:spPr>
      </p:sp>
      <p:sp>
        <p:nvSpPr>
          <p:cNvPr id="13" name="Text 11"/>
          <p:cNvSpPr/>
          <p:nvPr/>
        </p:nvSpPr>
        <p:spPr>
          <a:xfrm>
            <a:off x="749808" y="3136392"/>
            <a:ext cx="13716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p>
        </p:txBody>
      </p:sp>
      <p:sp>
        <p:nvSpPr>
          <p:cNvPr id="14" name="Text 12"/>
          <p:cNvSpPr/>
          <p:nvPr/>
        </p:nvSpPr>
        <p:spPr>
          <a:xfrm>
            <a:off x="749808" y="3364992"/>
            <a:ext cx="256032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2,500  images  (10%)</a:t>
            </a:r>
            <a:endParaRPr lang="en-US" sz="1000" dirty="0"/>
          </a:p>
        </p:txBody>
      </p:sp>
      <p:sp>
        <p:nvSpPr>
          <p:cNvPr id="15" name="Text 13"/>
          <p:cNvSpPr/>
          <p:nvPr/>
        </p:nvSpPr>
        <p:spPr>
          <a:xfrm>
            <a:off x="548640" y="3913632"/>
            <a:ext cx="2834640" cy="502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Seed = 42  ·  Fixed from Phase 3</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Never changed</a:t>
            </a:r>
            <a:endParaRPr lang="en-US" sz="1000" dirty="0"/>
          </a:p>
        </p:txBody>
      </p:sp>
      <p:sp>
        <p:nvSpPr>
          <p:cNvPr id="16" name="Text 14"/>
          <p:cNvSpPr/>
          <p:nvPr/>
        </p:nvSpPr>
        <p:spPr>
          <a:xfrm>
            <a:off x="3794760" y="1188720"/>
            <a:ext cx="5029200" cy="36576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Ceremony Steps</a:t>
            </a:r>
            <a:endParaRPr lang="en-US" sz="1400" dirty="0"/>
          </a:p>
        </p:txBody>
      </p:sp>
      <p:sp>
        <p:nvSpPr>
          <p:cNvPr id="17" name="Shape 15"/>
          <p:cNvSpPr/>
          <p:nvPr/>
        </p:nvSpPr>
        <p:spPr>
          <a:xfrm>
            <a:off x="3794760" y="1664208"/>
            <a:ext cx="256032" cy="256032"/>
          </a:xfrm>
          <a:prstGeom prst="ellipse">
            <a:avLst/>
          </a:prstGeom>
          <a:solidFill>
            <a:srgbClr val="0E7C7B"/>
          </a:solidFill>
          <a:ln w="12700">
            <a:solidFill>
              <a:srgbClr val="0E7C7B"/>
            </a:solidFill>
            <a:prstDash val="solid"/>
          </a:ln>
        </p:spPr>
      </p:sp>
      <p:sp>
        <p:nvSpPr>
          <p:cNvPr id="18" name="Text 16"/>
          <p:cNvSpPr/>
          <p:nvPr/>
        </p:nvSpPr>
        <p:spPr>
          <a:xfrm>
            <a:off x="3794760" y="166420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9" name="Text 17"/>
          <p:cNvSpPr/>
          <p:nvPr/>
        </p:nvSpPr>
        <p:spPr>
          <a:xfrm>
            <a:off x="4160520" y="1664208"/>
            <a:ext cx="466344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All training &amp; HPO completed BEFORE any test-set access</a:t>
            </a:r>
            <a:endParaRPr lang="en-US" sz="1050" dirty="0"/>
          </a:p>
        </p:txBody>
      </p:sp>
      <p:sp>
        <p:nvSpPr>
          <p:cNvPr id="20" name="Shape 18"/>
          <p:cNvSpPr/>
          <p:nvPr/>
        </p:nvSpPr>
        <p:spPr>
          <a:xfrm>
            <a:off x="3794760" y="2194560"/>
            <a:ext cx="256032" cy="256032"/>
          </a:xfrm>
          <a:prstGeom prst="ellipse">
            <a:avLst/>
          </a:prstGeom>
          <a:solidFill>
            <a:srgbClr val="0E7C7B"/>
          </a:solidFill>
          <a:ln w="12700">
            <a:solidFill>
              <a:srgbClr val="0E7C7B"/>
            </a:solidFill>
            <a:prstDash val="solid"/>
          </a:ln>
        </p:spPr>
      </p:sp>
      <p:sp>
        <p:nvSpPr>
          <p:cNvPr id="21" name="Text 19"/>
          <p:cNvSpPr/>
          <p:nvPr/>
        </p:nvSpPr>
        <p:spPr>
          <a:xfrm>
            <a:off x="3794760" y="21945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2" name="Text 20"/>
          <p:cNvSpPr/>
          <p:nvPr/>
        </p:nvSpPr>
        <p:spPr>
          <a:xfrm>
            <a:off x="4160520" y="2194560"/>
            <a:ext cx="466344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model.eval() + torch.no_grad() — weights frozen during inference</a:t>
            </a:r>
            <a:endParaRPr lang="en-US" sz="1050" dirty="0"/>
          </a:p>
        </p:txBody>
      </p:sp>
      <p:sp>
        <p:nvSpPr>
          <p:cNvPr id="23" name="Shape 21"/>
          <p:cNvSpPr/>
          <p:nvPr/>
        </p:nvSpPr>
        <p:spPr>
          <a:xfrm>
            <a:off x="3794760" y="2724912"/>
            <a:ext cx="256032" cy="256032"/>
          </a:xfrm>
          <a:prstGeom prst="ellipse">
            <a:avLst/>
          </a:prstGeom>
          <a:solidFill>
            <a:srgbClr val="0E7C7B"/>
          </a:solidFill>
          <a:ln w="12700">
            <a:solidFill>
              <a:srgbClr val="0E7C7B"/>
            </a:solidFill>
            <a:prstDash val="solid"/>
          </a:ln>
        </p:spPr>
      </p:sp>
      <p:sp>
        <p:nvSpPr>
          <p:cNvPr id="24" name="Text 22"/>
          <p:cNvSpPr/>
          <p:nvPr/>
        </p:nvSpPr>
        <p:spPr>
          <a:xfrm>
            <a:off x="3794760" y="272491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4160520" y="2724912"/>
            <a:ext cx="466344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3-seed evaluation for official pSp (seeds 42, 123, 999)</a:t>
            </a:r>
            <a:endParaRPr lang="en-US" sz="1050" dirty="0"/>
          </a:p>
        </p:txBody>
      </p:sp>
      <p:sp>
        <p:nvSpPr>
          <p:cNvPr id="26" name="Shape 24"/>
          <p:cNvSpPr/>
          <p:nvPr/>
        </p:nvSpPr>
        <p:spPr>
          <a:xfrm>
            <a:off x="3794760" y="3255264"/>
            <a:ext cx="256032" cy="256032"/>
          </a:xfrm>
          <a:prstGeom prst="ellipse">
            <a:avLst/>
          </a:prstGeom>
          <a:solidFill>
            <a:srgbClr val="0E7C7B"/>
          </a:solidFill>
          <a:ln w="12700">
            <a:solidFill>
              <a:srgbClr val="0E7C7B"/>
            </a:solidFill>
            <a:prstDash val="solid"/>
          </a:ln>
        </p:spPr>
      </p:sp>
      <p:sp>
        <p:nvSpPr>
          <p:cNvPr id="27" name="Text 25"/>
          <p:cNvSpPr/>
          <p:nvPr/>
        </p:nvSpPr>
        <p:spPr>
          <a:xfrm>
            <a:off x="3794760" y="32552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8" name="Text 26"/>
          <p:cNvSpPr/>
          <p:nvPr/>
        </p:nvSpPr>
        <p:spPr>
          <a:xfrm>
            <a:off x="4160520" y="3255264"/>
            <a:ext cx="466344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Metrics: L1, LPIPS (VGG), SSIM — all at 256×256</a:t>
            </a:r>
            <a:endParaRPr lang="en-US" sz="1050" dirty="0"/>
          </a:p>
        </p:txBody>
      </p:sp>
      <p:sp>
        <p:nvSpPr>
          <p:cNvPr id="29" name="Shape 27"/>
          <p:cNvSpPr/>
          <p:nvPr/>
        </p:nvSpPr>
        <p:spPr>
          <a:xfrm>
            <a:off x="3794760" y="3785616"/>
            <a:ext cx="256032" cy="256032"/>
          </a:xfrm>
          <a:prstGeom prst="ellipse">
            <a:avLst/>
          </a:prstGeom>
          <a:solidFill>
            <a:srgbClr val="0E7C7B"/>
          </a:solidFill>
          <a:ln w="12700">
            <a:solidFill>
              <a:srgbClr val="0E7C7B"/>
            </a:solidFill>
            <a:prstDash val="solid"/>
          </a:ln>
        </p:spPr>
      </p:sp>
      <p:sp>
        <p:nvSpPr>
          <p:cNvPr id="30" name="Text 28"/>
          <p:cNvSpPr/>
          <p:nvPr/>
        </p:nvSpPr>
        <p:spPr>
          <a:xfrm>
            <a:off x="3794760" y="37856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1" name="Text 29"/>
          <p:cNvSpPr/>
          <p:nvPr/>
        </p:nvSpPr>
        <p:spPr>
          <a:xfrm>
            <a:off x="4160520" y="3785616"/>
            <a:ext cx="466344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Results cached to task1_results.npz immediately after first run</a:t>
            </a:r>
            <a:endParaRPr lang="en-US" sz="1050" dirty="0"/>
          </a:p>
        </p:txBody>
      </p:sp>
      <p:sp>
        <p:nvSpPr>
          <p:cNvPr id="32" name="Shape 30"/>
          <p:cNvSpPr/>
          <p:nvPr/>
        </p:nvSpPr>
        <p:spPr>
          <a:xfrm>
            <a:off x="3794760" y="4315968"/>
            <a:ext cx="256032" cy="256032"/>
          </a:xfrm>
          <a:prstGeom prst="ellipse">
            <a:avLst/>
          </a:prstGeom>
          <a:solidFill>
            <a:srgbClr val="0E7C7B"/>
          </a:solidFill>
          <a:ln w="12700">
            <a:solidFill>
              <a:srgbClr val="0E7C7B"/>
            </a:solidFill>
            <a:prstDash val="solid"/>
          </a:ln>
        </p:spPr>
      </p:sp>
      <p:sp>
        <p:nvSpPr>
          <p:cNvPr id="33" name="Text 31"/>
          <p:cNvSpPr/>
          <p:nvPr/>
        </p:nvSpPr>
        <p:spPr>
          <a:xfrm>
            <a:off x="3794760" y="43159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4" name="Text 32"/>
          <p:cNvSpPr/>
          <p:nvPr/>
        </p:nvSpPr>
        <p:spPr>
          <a:xfrm>
            <a:off x="4160520" y="4315968"/>
            <a:ext cx="466344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Test evaluated exactly once. Numbers are final.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200" kern="0" dirty="0">
                <a:solidFill>
                  <a:srgbClr val="0E7C7B"/>
                </a:solidFill>
                <a:latin typeface="Calibri" pitchFamily="34" charset="0"/>
                <a:ea typeface="Calibri" pitchFamily="34" charset="-122"/>
                <a:cs typeface="Calibri" pitchFamily="34" charset="-120"/>
              </a:rPr>
              <a:t>03  —  FINAL RESULTS</a:t>
            </a:r>
            <a:endParaRPr lang="en-US" sz="1000" dirty="0"/>
          </a:p>
        </p:txBody>
      </p:sp>
      <p:sp>
        <p:nvSpPr>
          <p:cNvPr id="3" name="Text 1"/>
          <p:cNvSpPr/>
          <p:nvPr/>
        </p:nvSpPr>
        <p:spPr>
          <a:xfrm>
            <a:off x="457200" y="53035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Test Set: 2,500 Images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914400"/>
        </p:xfrm>
        <a:graphic>
          <a:graphicData uri="http://schemas.openxmlformats.org/drawingml/2006/table">
            <a:tbl>
              <a:tblPr/>
              <a:tblGrid>
                <a:gridCol w="2377440"/>
                <a:gridCol w="1554480"/>
                <a:gridCol w="1554480"/>
                <a:gridCol w="1554480"/>
                <a:gridCol w="1737360"/>
              </a:tblGrid>
              <a:tr h="384048">
                <a:tc>
                  <a:txBody>
                    <a:bodyPr/>
                    <a:lstStyle/>
                    <a:p>
                      <a:pPr indent="0" marL="0">
                        <a:buNone/>
                      </a:pPr>
                      <a:r>
                        <a:rPr lang="en-US" sz="1000" b="1" dirty="0">
                          <a:solidFill>
                            <a:srgbClr val="FFFFFF"/>
                          </a:solidFill>
                        </a:rPr>
                        <a:t>Model</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L1 mean±std</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LPIPS mean±std</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SSIM mean±std</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Notes</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r>
              <a:tr h="384048">
                <a:tc>
                  <a:txBody>
                    <a:bodyPr/>
                    <a:lstStyle/>
                    <a:p>
                      <a:pPr indent="0" marL="0">
                        <a:buNone/>
                      </a:pPr>
                      <a:r>
                        <a:rPr lang="en-US" sz="950" dirty="0">
                          <a:solidFill>
                            <a:srgbClr val="1A2533"/>
                          </a:solidFill>
                        </a:rPr>
                        <a:t>MLP Baseline (Phase 2)</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950" dirty="0">
                          <a:solidFill>
                            <a:srgbClr val="1A2533"/>
                          </a:solidFill>
                        </a:rPr>
                        <a:t>0.4190 ± —</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950" dirty="0">
                          <a:solidFill>
                            <a:srgbClr val="1A2533"/>
                          </a:solidFill>
                        </a:rPr>
                        <a:t>—</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950" dirty="0">
                          <a:solidFill>
                            <a:srgbClr val="1A2533"/>
                          </a:solidFill>
                        </a:rPr>
                        <a:t>—</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950" dirty="0">
                          <a:solidFill>
                            <a:srgbClr val="1A2533"/>
                          </a:solidFill>
                        </a:rPr>
                        <a:t>No conv, fully connected</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A2533"/>
                          </a:solidFill>
                        </a:rPr>
                        <a:t>Phase 3 — pSp scratch</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950" dirty="0">
                          <a:solidFill>
                            <a:srgbClr val="1A2533"/>
                          </a:solidFill>
                        </a:rPr>
                        <a:t>0.2374 ± 0.060</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950" dirty="0">
                          <a:solidFill>
                            <a:srgbClr val="1A2533"/>
                          </a:solidFill>
                        </a:rPr>
                        <a:t>0.723 ± 0.037</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950" dirty="0">
                          <a:solidFill>
                            <a:srgbClr val="1A2533"/>
                          </a:solidFill>
                        </a:rPr>
                        <a:t>0.392 ± 0.084</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950" dirty="0">
                          <a:solidFill>
                            <a:srgbClr val="1A2533"/>
                          </a:solidFill>
                        </a:rPr>
                        <a:t>Trained from scratch</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r>
              <a:tr h="384048">
                <a:tc>
                  <a:txBody>
                    <a:bodyPr/>
                    <a:lstStyle/>
                    <a:p>
                      <a:pPr indent="0" marL="0">
                        <a:buNone/>
                      </a:pPr>
                      <a:r>
                        <a:rPr lang="en-US" sz="950" b="1" dirty="0">
                          <a:solidFill>
                            <a:srgbClr val="0D1B2A"/>
                          </a:solidFill>
                        </a:rPr>
                        <a:t>Phase 4 — ResNet TL (Config C)</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c>
                  <a:txBody>
                    <a:bodyPr/>
                    <a:lstStyle/>
                    <a:p>
                      <a:pPr indent="0" marL="0">
                        <a:buNone/>
                      </a:pPr>
                      <a:r>
                        <a:rPr lang="en-US" sz="950" b="1" dirty="0">
                          <a:solidFill>
                            <a:srgbClr val="0D1B2A"/>
                          </a:solidFill>
                        </a:rPr>
                        <a:t>0.2960 ± 0.065</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c>
                  <a:txBody>
                    <a:bodyPr/>
                    <a:lstStyle/>
                    <a:p>
                      <a:pPr indent="0" marL="0">
                        <a:buNone/>
                      </a:pPr>
                      <a:r>
                        <a:rPr lang="en-US" sz="950" b="1" dirty="0">
                          <a:solidFill>
                            <a:srgbClr val="0D1B2A"/>
                          </a:solidFill>
                        </a:rPr>
                        <a:t>0.677 ± 0.055</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c>
                  <a:txBody>
                    <a:bodyPr/>
                    <a:lstStyle/>
                    <a:p>
                      <a:pPr indent="0" marL="0">
                        <a:buNone/>
                      </a:pPr>
                      <a:r>
                        <a:rPr lang="en-US" sz="950" b="1" dirty="0">
                          <a:solidFill>
                            <a:srgbClr val="0D1B2A"/>
                          </a:solidFill>
                        </a:rPr>
                        <a:t>0.351 ± 0.098</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c>
                  <a:txBody>
                    <a:bodyPr/>
                    <a:lstStyle/>
                    <a:p>
                      <a:pPr indent="0" marL="0">
                        <a:buNone/>
                      </a:pPr>
                      <a:r>
                        <a:rPr lang="en-US" sz="950" b="1" dirty="0">
                          <a:solidFill>
                            <a:srgbClr val="0D1B2A"/>
                          </a:solidFill>
                        </a:rPr>
                        <a:t>Best custom model ★</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r>
              <a:tr h="384048">
                <a:tc>
                  <a:txBody>
                    <a:bodyPr/>
                    <a:lstStyle/>
                    <a:p>
                      <a:pPr indent="0" marL="0">
                        <a:buNone/>
                      </a:pPr>
                      <a:r>
                        <a:rPr lang="en-US" sz="950" dirty="0">
                          <a:solidFill>
                            <a:srgbClr val="1A2533"/>
                          </a:solidFill>
                        </a:rPr>
                        <a:t>Official pSp (pretrained)</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950" dirty="0">
                          <a:solidFill>
                            <a:srgbClr val="1A2533"/>
                          </a:solidFill>
                        </a:rPr>
                        <a:t>0.2374 ± 0.060</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950" dirty="0">
                          <a:solidFill>
                            <a:srgbClr val="1A2533"/>
                          </a:solidFill>
                        </a:rPr>
                        <a:t>0.723 ± 0.037</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950" dirty="0">
                          <a:solidFill>
                            <a:srgbClr val="1A2533"/>
                          </a:solidFill>
                        </a:rPr>
                        <a:t>0.392 ± 0.084</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950" dirty="0">
                          <a:solidFill>
                            <a:srgbClr val="1A2533"/>
                          </a:solidFill>
                        </a:rPr>
                        <a:t>Pretrained on CelebA-HQ</a:t>
                      </a:r>
                      <a:endParaRPr lang="en-US" sz="95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r>
            </a:tbl>
          </a:graphicData>
        </a:graphic>
      </p:graphicFrame>
      <p:sp>
        <p:nvSpPr>
          <p:cNvPr id="5" name="Shape 2"/>
          <p:cNvSpPr/>
          <p:nvPr/>
        </p:nvSpPr>
        <p:spPr>
          <a:xfrm>
            <a:off x="274320" y="3063240"/>
            <a:ext cx="8595360" cy="594360"/>
          </a:xfrm>
          <a:prstGeom prst="rect">
            <a:avLst/>
          </a:prstGeom>
          <a:solidFill>
            <a:srgbClr val="FFF8E1"/>
          </a:solidFill>
          <a:ln w="12700">
            <a:solidFill>
              <a:srgbClr val="F5A623"/>
            </a:solidFill>
            <a:prstDash val="solid"/>
          </a:ln>
        </p:spPr>
      </p:sp>
      <p:sp>
        <p:nvSpPr>
          <p:cNvPr id="6" name="Text 3"/>
          <p:cNvSpPr/>
          <p:nvPr/>
        </p:nvSpPr>
        <p:spPr>
          <a:xfrm>
            <a:off x="457200" y="3108960"/>
            <a:ext cx="8229600" cy="502920"/>
          </a:xfrm>
          <a:prstGeom prst="rect">
            <a:avLst/>
          </a:prstGeom>
          <a:noFill/>
          <a:ln/>
        </p:spPr>
        <p:txBody>
          <a:bodyPr wrap="square" lIns="0" tIns="0" rIns="0" bIns="0" rtlCol="0" anchor="ctr"/>
          <a:lstStyle/>
          <a:p>
            <a:pPr indent="0" marL="0">
              <a:buNone/>
            </a:pPr>
            <a:r>
              <a:rPr lang="en-US" sz="1000" dirty="0">
                <a:solidFill>
                  <a:srgbClr val="7A5C00"/>
                </a:solidFill>
                <a:latin typeface="Calibri" pitchFamily="34" charset="0"/>
                <a:ea typeface="Calibri" pitchFamily="34" charset="-122"/>
                <a:cs typeface="Calibri" pitchFamily="34" charset="-120"/>
              </a:rPr>
              <a:t>⚠️  Note: Phase 3 and Official pSp show identical numbers because official pSp weights were stored under the 'phase3' key in the evaluation cache.</a:t>
            </a:r>
            <a:endParaRPr lang="en-US" sz="1000" dirty="0"/>
          </a:p>
        </p:txBody>
      </p:sp>
      <p:graphicFrame>
        <p:nvGraphicFramePr>
          <p:cNvPr id="7" name="Chart 0" descr=""/>
          <p:cNvGraphicFramePr/>
          <p:nvPr/>
        </p:nvGraphicFramePr>
        <p:xfrm>
          <a:off x="274320" y="3749040"/>
          <a:ext cx="8595360" cy="11887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457200" y="201168"/>
            <a:ext cx="8229600" cy="292608"/>
          </a:xfrm>
          <a:prstGeom prst="rect">
            <a:avLst/>
          </a:prstGeom>
          <a:noFill/>
          <a:ln/>
        </p:spPr>
        <p:txBody>
          <a:bodyPr wrap="square" lIns="0" tIns="0" rIns="0" bIns="0" rtlCol="0" anchor="ctr"/>
          <a:lstStyle/>
          <a:p>
            <a:pPr indent="0" marL="0">
              <a:buNone/>
            </a:pPr>
            <a:r>
              <a:rPr lang="en-US" sz="1000" b="1" spc="200" kern="0" dirty="0">
                <a:solidFill>
                  <a:srgbClr val="0E7C7B"/>
                </a:solidFill>
                <a:latin typeface="Calibri" pitchFamily="34" charset="0"/>
                <a:ea typeface="Calibri" pitchFamily="34" charset="-122"/>
                <a:cs typeface="Calibri" pitchFamily="34" charset="-120"/>
              </a:rPr>
              <a:t>04  —  ABLATION STUDIES</a:t>
            </a:r>
            <a:endParaRPr lang="en-US" sz="1000" dirty="0"/>
          </a:p>
        </p:txBody>
      </p:sp>
      <p:sp>
        <p:nvSpPr>
          <p:cNvPr id="3" name="Text 1"/>
          <p:cNvSpPr/>
          <p:nvPr/>
        </p:nvSpPr>
        <p:spPr>
          <a:xfrm>
            <a:off x="457200" y="475488"/>
            <a:ext cx="8229600" cy="45720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5 Experiments — What Actually Matters</a:t>
            </a:r>
            <a:endParaRPr lang="en-US" sz="2600" dirty="0"/>
          </a:p>
        </p:txBody>
      </p:sp>
      <p:sp>
        <p:nvSpPr>
          <p:cNvPr id="4" name="Shape 2"/>
          <p:cNvSpPr/>
          <p:nvPr/>
        </p:nvSpPr>
        <p:spPr>
          <a:xfrm>
            <a:off x="274320" y="1051560"/>
            <a:ext cx="2697480" cy="141732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1051560"/>
            <a:ext cx="2697480" cy="73152"/>
          </a:xfrm>
          <a:prstGeom prst="rect">
            <a:avLst/>
          </a:prstGeom>
          <a:solidFill>
            <a:srgbClr val="0E7C7B"/>
          </a:solidFill>
          <a:ln w="12700">
            <a:solidFill>
              <a:srgbClr val="0E7C7B"/>
            </a:solidFill>
            <a:prstDash val="solid"/>
          </a:ln>
        </p:spPr>
      </p:sp>
      <p:sp>
        <p:nvSpPr>
          <p:cNvPr id="6" name="Text 4"/>
          <p:cNvSpPr/>
          <p:nvPr/>
        </p:nvSpPr>
        <p:spPr>
          <a:xfrm>
            <a:off x="384048" y="1179576"/>
            <a:ext cx="2514600" cy="228600"/>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Abl 1</a:t>
            </a:r>
            <a:endParaRPr lang="en-US" sz="900" dirty="0"/>
          </a:p>
        </p:txBody>
      </p:sp>
      <p:sp>
        <p:nvSpPr>
          <p:cNvPr id="7" name="Text 5"/>
          <p:cNvSpPr/>
          <p:nvPr/>
        </p:nvSpPr>
        <p:spPr>
          <a:xfrm>
            <a:off x="384048" y="1380744"/>
            <a:ext cx="251460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Transfer Learning vs Scratch</a:t>
            </a:r>
            <a:endParaRPr lang="en-US" sz="1100" dirty="0"/>
          </a:p>
        </p:txBody>
      </p:sp>
      <p:sp>
        <p:nvSpPr>
          <p:cNvPr id="8" name="Text 6"/>
          <p:cNvSpPr/>
          <p:nvPr/>
        </p:nvSpPr>
        <p:spPr>
          <a:xfrm>
            <a:off x="384048" y="1673352"/>
            <a:ext cx="2514600" cy="25603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TL wins by 25.4%</a:t>
            </a:r>
            <a:endParaRPr lang="en-US" sz="1100" dirty="0"/>
          </a:p>
        </p:txBody>
      </p:sp>
      <p:sp>
        <p:nvSpPr>
          <p:cNvPr id="9" name="Text 7"/>
          <p:cNvSpPr/>
          <p:nvPr/>
        </p:nvSpPr>
        <p:spPr>
          <a:xfrm>
            <a:off x="384048" y="1947672"/>
            <a:ext cx="2514600" cy="38404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Scratch: 0.4764 → TL final: 0.3556</a:t>
            </a:r>
            <a:endParaRPr lang="en-US" sz="900" dirty="0"/>
          </a:p>
        </p:txBody>
      </p:sp>
      <p:sp>
        <p:nvSpPr>
          <p:cNvPr id="10" name="Shape 8"/>
          <p:cNvSpPr/>
          <p:nvPr/>
        </p:nvSpPr>
        <p:spPr>
          <a:xfrm>
            <a:off x="3127248" y="1051560"/>
            <a:ext cx="2697480" cy="141732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127248" y="1051560"/>
            <a:ext cx="2697480" cy="73152"/>
          </a:xfrm>
          <a:prstGeom prst="rect">
            <a:avLst/>
          </a:prstGeom>
          <a:solidFill>
            <a:srgbClr val="0D1B2A"/>
          </a:solidFill>
          <a:ln w="12700">
            <a:solidFill>
              <a:srgbClr val="0D1B2A"/>
            </a:solidFill>
            <a:prstDash val="solid"/>
          </a:ln>
        </p:spPr>
      </p:sp>
      <p:sp>
        <p:nvSpPr>
          <p:cNvPr id="12" name="Text 10"/>
          <p:cNvSpPr/>
          <p:nvPr/>
        </p:nvSpPr>
        <p:spPr>
          <a:xfrm>
            <a:off x="3236976" y="1179576"/>
            <a:ext cx="2514600" cy="22860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Abl 2</a:t>
            </a:r>
            <a:endParaRPr lang="en-US" sz="900" dirty="0"/>
          </a:p>
        </p:txBody>
      </p:sp>
      <p:sp>
        <p:nvSpPr>
          <p:cNvPr id="13" name="Text 11"/>
          <p:cNvSpPr/>
          <p:nvPr/>
        </p:nvSpPr>
        <p:spPr>
          <a:xfrm>
            <a:off x="3236976" y="1380744"/>
            <a:ext cx="251460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Config A/B/C/D (Fine-tune Strategy)</a:t>
            </a:r>
            <a:endParaRPr lang="en-US" sz="1100" dirty="0"/>
          </a:p>
        </p:txBody>
      </p:sp>
      <p:sp>
        <p:nvSpPr>
          <p:cNvPr id="14" name="Text 12"/>
          <p:cNvSpPr/>
          <p:nvPr/>
        </p:nvSpPr>
        <p:spPr>
          <a:xfrm>
            <a:off x="3236976" y="1673352"/>
            <a:ext cx="2514600"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Config C best: 0.3845</a:t>
            </a:r>
            <a:endParaRPr lang="en-US" sz="1100" dirty="0"/>
          </a:p>
        </p:txBody>
      </p:sp>
      <p:sp>
        <p:nvSpPr>
          <p:cNvPr id="15" name="Text 13"/>
          <p:cNvSpPr/>
          <p:nvPr/>
        </p:nvSpPr>
        <p:spPr>
          <a:xfrm>
            <a:off x="3236976" y="1947672"/>
            <a:ext cx="2514600" cy="38404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Differential LR: head 1.3e-4, backbone 5.4e-5</a:t>
            </a:r>
            <a:endParaRPr lang="en-US" sz="900" dirty="0"/>
          </a:p>
        </p:txBody>
      </p:sp>
      <p:sp>
        <p:nvSpPr>
          <p:cNvPr id="16" name="Shape 14"/>
          <p:cNvSpPr/>
          <p:nvPr/>
        </p:nvSpPr>
        <p:spPr>
          <a:xfrm>
            <a:off x="5980176" y="1051560"/>
            <a:ext cx="2697480" cy="141732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5980176" y="1051560"/>
            <a:ext cx="2697480" cy="73152"/>
          </a:xfrm>
          <a:prstGeom prst="rect">
            <a:avLst/>
          </a:prstGeom>
          <a:solidFill>
            <a:srgbClr val="14A8A6"/>
          </a:solidFill>
          <a:ln w="12700">
            <a:solidFill>
              <a:srgbClr val="14A8A6"/>
            </a:solidFill>
            <a:prstDash val="solid"/>
          </a:ln>
        </p:spPr>
      </p:sp>
      <p:sp>
        <p:nvSpPr>
          <p:cNvPr id="18" name="Text 16"/>
          <p:cNvSpPr/>
          <p:nvPr/>
        </p:nvSpPr>
        <p:spPr>
          <a:xfrm>
            <a:off x="6089904" y="1179576"/>
            <a:ext cx="2514600" cy="228600"/>
          </a:xfrm>
          <a:prstGeom prst="rect">
            <a:avLst/>
          </a:prstGeom>
          <a:noFill/>
          <a:ln/>
        </p:spPr>
        <p:txBody>
          <a:bodyPr wrap="square" lIns="0" tIns="0" rIns="0" bIns="0" rtlCol="0" anchor="ctr"/>
          <a:lstStyle/>
          <a:p>
            <a:pPr indent="0" marL="0">
              <a:buNone/>
            </a:pPr>
            <a:r>
              <a:rPr lang="en-US" sz="900" b="1" dirty="0">
                <a:solidFill>
                  <a:srgbClr val="14A8A6"/>
                </a:solidFill>
                <a:latin typeface="Calibri" pitchFamily="34" charset="0"/>
                <a:ea typeface="Calibri" pitchFamily="34" charset="-122"/>
                <a:cs typeface="Calibri" pitchFamily="34" charset="-120"/>
              </a:rPr>
              <a:t>Abl 3</a:t>
            </a:r>
            <a:endParaRPr lang="en-US" sz="900" dirty="0"/>
          </a:p>
        </p:txBody>
      </p:sp>
      <p:sp>
        <p:nvSpPr>
          <p:cNvPr id="19" name="Text 17"/>
          <p:cNvSpPr/>
          <p:nvPr/>
        </p:nvSpPr>
        <p:spPr>
          <a:xfrm>
            <a:off x="6089904" y="1380744"/>
            <a:ext cx="251460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Sketch Preprocessing Pipeline</a:t>
            </a:r>
            <a:endParaRPr lang="en-US" sz="1100" dirty="0"/>
          </a:p>
        </p:txBody>
      </p:sp>
      <p:sp>
        <p:nvSpPr>
          <p:cNvPr id="20" name="Text 18"/>
          <p:cNvSpPr/>
          <p:nvPr/>
        </p:nvSpPr>
        <p:spPr>
          <a:xfrm>
            <a:off x="6089904" y="1673352"/>
            <a:ext cx="2514600" cy="256032"/>
          </a:xfrm>
          <a:prstGeom prst="rect">
            <a:avLst/>
          </a:prstGeom>
          <a:noFill/>
          <a:ln/>
        </p:spPr>
        <p:txBody>
          <a:bodyPr wrap="square" lIns="0" tIns="0" rIns="0" bIns="0" rtlCol="0" anchor="ctr"/>
          <a:lstStyle/>
          <a:p>
            <a:pPr indent="0" marL="0">
              <a:buNone/>
            </a:pPr>
            <a:r>
              <a:rPr lang="en-US" sz="1100" b="1" dirty="0">
                <a:solidFill>
                  <a:srgbClr val="14A8A6"/>
                </a:solidFill>
                <a:latin typeface="Calibri" pitchFamily="34" charset="0"/>
                <a:ea typeface="Calibri" pitchFamily="34" charset="-122"/>
                <a:cs typeface="Calibri" pitchFamily="34" charset="-120"/>
              </a:rPr>
              <a:t>Line B: 0.3138  |  Raw: 0.2214</a:t>
            </a:r>
            <a:endParaRPr lang="en-US" sz="1100" dirty="0"/>
          </a:p>
        </p:txBody>
      </p:sp>
      <p:sp>
        <p:nvSpPr>
          <p:cNvPr id="21" name="Text 19"/>
          <p:cNvSpPr/>
          <p:nvPr/>
        </p:nvSpPr>
        <p:spPr>
          <a:xfrm>
            <a:off x="6089904" y="1947672"/>
            <a:ext cx="2514600" cy="38404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Bilateral + Canny + dilation vs raw Canny</a:t>
            </a:r>
            <a:endParaRPr lang="en-US" sz="900" dirty="0"/>
          </a:p>
        </p:txBody>
      </p:sp>
      <p:sp>
        <p:nvSpPr>
          <p:cNvPr id="22" name="Shape 20"/>
          <p:cNvSpPr/>
          <p:nvPr/>
        </p:nvSpPr>
        <p:spPr>
          <a:xfrm>
            <a:off x="274320" y="2743200"/>
            <a:ext cx="4069080" cy="141732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74320" y="2743200"/>
            <a:ext cx="4069080" cy="73152"/>
          </a:xfrm>
          <a:prstGeom prst="rect">
            <a:avLst/>
          </a:prstGeom>
          <a:solidFill>
            <a:srgbClr val="F5A623"/>
          </a:solidFill>
          <a:ln w="12700">
            <a:solidFill>
              <a:srgbClr val="F5A623"/>
            </a:solidFill>
            <a:prstDash val="solid"/>
          </a:ln>
        </p:spPr>
      </p:sp>
      <p:sp>
        <p:nvSpPr>
          <p:cNvPr id="24" name="Text 22"/>
          <p:cNvSpPr/>
          <p:nvPr/>
        </p:nvSpPr>
        <p:spPr>
          <a:xfrm>
            <a:off x="384048" y="2871216"/>
            <a:ext cx="3886200" cy="228600"/>
          </a:xfrm>
          <a:prstGeom prst="rect">
            <a:avLst/>
          </a:prstGeom>
          <a:noFill/>
          <a:ln/>
        </p:spPr>
        <p:txBody>
          <a:bodyPr wrap="square" lIns="0" tIns="0" rIns="0" bIns="0" rtlCol="0" anchor="ctr"/>
          <a:lstStyle/>
          <a:p>
            <a:pPr indent="0" marL="0">
              <a:buNone/>
            </a:pPr>
            <a:r>
              <a:rPr lang="en-US" sz="900" b="1" dirty="0">
                <a:solidFill>
                  <a:srgbClr val="F5A623"/>
                </a:solidFill>
                <a:latin typeface="Calibri" pitchFamily="34" charset="0"/>
                <a:ea typeface="Calibri" pitchFamily="34" charset="-122"/>
                <a:cs typeface="Calibri" pitchFamily="34" charset="-120"/>
              </a:rPr>
              <a:t>Abl 4</a:t>
            </a:r>
            <a:endParaRPr lang="en-US" sz="900" dirty="0"/>
          </a:p>
        </p:txBody>
      </p:sp>
      <p:sp>
        <p:nvSpPr>
          <p:cNvPr id="25" name="Text 23"/>
          <p:cNvSpPr/>
          <p:nvPr/>
        </p:nvSpPr>
        <p:spPr>
          <a:xfrm>
            <a:off x="384048" y="3072384"/>
            <a:ext cx="388620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Training Data Volume</a:t>
            </a:r>
            <a:endParaRPr lang="en-US" sz="1100" dirty="0"/>
          </a:p>
        </p:txBody>
      </p:sp>
      <p:sp>
        <p:nvSpPr>
          <p:cNvPr id="26" name="Text 24"/>
          <p:cNvSpPr/>
          <p:nvPr/>
        </p:nvSpPr>
        <p:spPr>
          <a:xfrm>
            <a:off x="384048" y="3364992"/>
            <a:ext cx="3886200" cy="256032"/>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Diminishing returns after 50%</a:t>
            </a:r>
            <a:endParaRPr lang="en-US" sz="1100" dirty="0"/>
          </a:p>
        </p:txBody>
      </p:sp>
      <p:sp>
        <p:nvSpPr>
          <p:cNvPr id="27" name="Text 25"/>
          <p:cNvSpPr/>
          <p:nvPr/>
        </p:nvSpPr>
        <p:spPr>
          <a:xfrm>
            <a:off x="384048" y="3639312"/>
            <a:ext cx="3886200" cy="38404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Estimated via scaling law — not full retrain</a:t>
            </a:r>
            <a:endParaRPr lang="en-US" sz="900" dirty="0"/>
          </a:p>
        </p:txBody>
      </p:sp>
      <p:sp>
        <p:nvSpPr>
          <p:cNvPr id="28" name="Shape 26"/>
          <p:cNvSpPr/>
          <p:nvPr/>
        </p:nvSpPr>
        <p:spPr>
          <a:xfrm>
            <a:off x="4617720" y="2743200"/>
            <a:ext cx="4069080" cy="141732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4617720" y="2743200"/>
            <a:ext cx="4069080" cy="73152"/>
          </a:xfrm>
          <a:prstGeom prst="rect">
            <a:avLst/>
          </a:prstGeom>
          <a:solidFill>
            <a:srgbClr val="E84855"/>
          </a:solidFill>
          <a:ln w="12700">
            <a:solidFill>
              <a:srgbClr val="E84855"/>
            </a:solidFill>
            <a:prstDash val="solid"/>
          </a:ln>
        </p:spPr>
      </p:sp>
      <p:sp>
        <p:nvSpPr>
          <p:cNvPr id="30" name="Text 28"/>
          <p:cNvSpPr/>
          <p:nvPr/>
        </p:nvSpPr>
        <p:spPr>
          <a:xfrm>
            <a:off x="4727448" y="2871216"/>
            <a:ext cx="3886200" cy="228600"/>
          </a:xfrm>
          <a:prstGeom prst="rect">
            <a:avLst/>
          </a:prstGeom>
          <a:noFill/>
          <a:ln/>
        </p:spPr>
        <p:txBody>
          <a:bodyPr wrap="square" lIns="0" tIns="0" rIns="0" bIns="0" rtlCol="0" anchor="ctr"/>
          <a:lstStyle/>
          <a:p>
            <a:pPr indent="0" marL="0">
              <a:buNone/>
            </a:pPr>
            <a:r>
              <a:rPr lang="en-US" sz="900" b="1" dirty="0">
                <a:solidFill>
                  <a:srgbClr val="E84855"/>
                </a:solidFill>
                <a:latin typeface="Calibri" pitchFamily="34" charset="0"/>
                <a:ea typeface="Calibri" pitchFamily="34" charset="-122"/>
                <a:cs typeface="Calibri" pitchFamily="34" charset="-120"/>
              </a:rPr>
              <a:t>Abl 5</a:t>
            </a:r>
            <a:endParaRPr lang="en-US" sz="900" dirty="0"/>
          </a:p>
        </p:txBody>
      </p:sp>
      <p:sp>
        <p:nvSpPr>
          <p:cNvPr id="31" name="Text 29"/>
          <p:cNvSpPr/>
          <p:nvPr/>
        </p:nvSpPr>
        <p:spPr>
          <a:xfrm>
            <a:off x="4727448" y="3072384"/>
            <a:ext cx="388620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F.normalize in Forward Pass</a:t>
            </a:r>
            <a:endParaRPr lang="en-US" sz="1100" dirty="0"/>
          </a:p>
        </p:txBody>
      </p:sp>
      <p:sp>
        <p:nvSpPr>
          <p:cNvPr id="32" name="Text 30"/>
          <p:cNvSpPr/>
          <p:nvPr/>
        </p:nvSpPr>
        <p:spPr>
          <a:xfrm>
            <a:off x="4727448" y="3364992"/>
            <a:ext cx="3886200" cy="256032"/>
          </a:xfrm>
          <a:prstGeom prst="rect">
            <a:avLst/>
          </a:prstGeom>
          <a:noFill/>
          <a:ln/>
        </p:spPr>
        <p:txBody>
          <a:bodyPr wrap="square" lIns="0" tIns="0" rIns="0" bIns="0" rtlCol="0" anchor="ctr"/>
          <a:lstStyle/>
          <a:p>
            <a:pPr indent="0" marL="0">
              <a:buNone/>
            </a:pPr>
            <a:r>
              <a:rPr lang="en-US" sz="1100" b="1" dirty="0">
                <a:solidFill>
                  <a:srgbClr val="E84855"/>
                </a:solidFill>
                <a:latin typeface="Calibri" pitchFamily="34" charset="0"/>
                <a:ea typeface="Calibri" pitchFamily="34" charset="-122"/>
                <a:cs typeface="Calibri" pitchFamily="34" charset="-120"/>
              </a:rPr>
              <a:t>CRITICAL: removes → 0.4943!</a:t>
            </a:r>
            <a:endParaRPr lang="en-US" sz="1100" dirty="0"/>
          </a:p>
        </p:txBody>
      </p:sp>
      <p:sp>
        <p:nvSpPr>
          <p:cNvPr id="33" name="Text 31"/>
          <p:cNvSpPr/>
          <p:nvPr/>
        </p:nvSpPr>
        <p:spPr>
          <a:xfrm>
            <a:off x="4727448" y="3639312"/>
            <a:ext cx="3886200" cy="38404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With: 0.2985  |  Without: 0.4943 (+66%)</a:t>
            </a:r>
            <a:endParaRPr lang="en-US" sz="900" dirty="0"/>
          </a:p>
        </p:txBody>
      </p:sp>
      <p:sp>
        <p:nvSpPr>
          <p:cNvPr id="34" name="Text 32"/>
          <p:cNvSpPr/>
          <p:nvPr/>
        </p:nvSpPr>
        <p:spPr>
          <a:xfrm>
            <a:off x="274320" y="4736592"/>
            <a:ext cx="8595360" cy="25603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Reference: Phase 4 final test L1 = 0.2960  ·  Params = 53,840,291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292608"/>
          </a:xfrm>
          <a:prstGeom prst="rect">
            <a:avLst/>
          </a:prstGeom>
          <a:noFill/>
          <a:ln/>
        </p:spPr>
        <p:txBody>
          <a:bodyPr wrap="square" lIns="0" tIns="0" rIns="0" bIns="0" rtlCol="0" anchor="ctr"/>
          <a:lstStyle/>
          <a:p>
            <a:pPr indent="0" marL="0">
              <a:buNone/>
            </a:pPr>
            <a:r>
              <a:rPr lang="en-US" sz="1000" b="1" spc="200" kern="0" dirty="0">
                <a:solidFill>
                  <a:srgbClr val="14A8A6"/>
                </a:solidFill>
                <a:latin typeface="Calibri" pitchFamily="34" charset="0"/>
                <a:ea typeface="Calibri" pitchFamily="34" charset="-122"/>
                <a:cs typeface="Calibri" pitchFamily="34" charset="-120"/>
              </a:rPr>
              <a:t>05  —  ERROR ANALYSIS</a:t>
            </a:r>
            <a:endParaRPr lang="en-US" sz="1000" dirty="0"/>
          </a:p>
        </p:txBody>
      </p:sp>
      <p:sp>
        <p:nvSpPr>
          <p:cNvPr id="3" name="Text 1"/>
          <p:cNvSpPr/>
          <p:nvPr/>
        </p:nvSpPr>
        <p:spPr>
          <a:xfrm>
            <a:off x="457200" y="502920"/>
            <a:ext cx="8229600" cy="47548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Where Does It Fail — and Why?</a:t>
            </a:r>
            <a:endParaRPr lang="en-US" sz="2800" dirty="0"/>
          </a:p>
        </p:txBody>
      </p:sp>
      <p:sp>
        <p:nvSpPr>
          <p:cNvPr id="4" name="Shape 2"/>
          <p:cNvSpPr/>
          <p:nvPr/>
        </p:nvSpPr>
        <p:spPr>
          <a:xfrm>
            <a:off x="274320" y="1097280"/>
            <a:ext cx="2926080" cy="2011680"/>
          </a:xfrm>
          <a:prstGeom prst="rect">
            <a:avLst/>
          </a:prstGeom>
          <a:solidFill>
            <a:srgbClr val="1E3A4C"/>
          </a:solidFill>
          <a:ln w="12700">
            <a:solidFill>
              <a:srgbClr val="0E7C7B"/>
            </a:solidFill>
            <a:prstDash val="solid"/>
          </a:ln>
        </p:spPr>
      </p:sp>
      <p:sp>
        <p:nvSpPr>
          <p:cNvPr id="5" name="Text 3"/>
          <p:cNvSpPr/>
          <p:nvPr/>
        </p:nvSpPr>
        <p:spPr>
          <a:xfrm>
            <a:off x="457200" y="1188720"/>
            <a:ext cx="2560320" cy="32004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Test Set Stats</a:t>
            </a:r>
            <a:endParaRPr lang="en-US" sz="1300" dirty="0"/>
          </a:p>
        </p:txBody>
      </p:sp>
      <p:sp>
        <p:nvSpPr>
          <p:cNvPr id="6" name="Text 4"/>
          <p:cNvSpPr/>
          <p:nvPr/>
        </p:nvSpPr>
        <p:spPr>
          <a:xfrm>
            <a:off x="457200" y="1572768"/>
            <a:ext cx="12801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Mean L1</a:t>
            </a:r>
            <a:endParaRPr lang="en-US" sz="1000" dirty="0"/>
          </a:p>
        </p:txBody>
      </p:sp>
      <p:sp>
        <p:nvSpPr>
          <p:cNvPr id="7" name="Text 5"/>
          <p:cNvSpPr/>
          <p:nvPr/>
        </p:nvSpPr>
        <p:spPr>
          <a:xfrm>
            <a:off x="1783080" y="1572768"/>
            <a:ext cx="118872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0.3143</a:t>
            </a:r>
            <a:endParaRPr lang="en-US" sz="1000" dirty="0"/>
          </a:p>
        </p:txBody>
      </p:sp>
      <p:sp>
        <p:nvSpPr>
          <p:cNvPr id="8" name="Text 6"/>
          <p:cNvSpPr/>
          <p:nvPr/>
        </p:nvSpPr>
        <p:spPr>
          <a:xfrm>
            <a:off x="457200" y="1847088"/>
            <a:ext cx="12801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Median L1</a:t>
            </a:r>
            <a:endParaRPr lang="en-US" sz="1000" dirty="0"/>
          </a:p>
        </p:txBody>
      </p:sp>
      <p:sp>
        <p:nvSpPr>
          <p:cNvPr id="9" name="Text 7"/>
          <p:cNvSpPr/>
          <p:nvPr/>
        </p:nvSpPr>
        <p:spPr>
          <a:xfrm>
            <a:off x="1783080" y="1847088"/>
            <a:ext cx="118872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0.3062</a:t>
            </a:r>
            <a:endParaRPr lang="en-US" sz="1000" dirty="0"/>
          </a:p>
        </p:txBody>
      </p:sp>
      <p:sp>
        <p:nvSpPr>
          <p:cNvPr id="10" name="Text 8"/>
          <p:cNvSpPr/>
          <p:nvPr/>
        </p:nvSpPr>
        <p:spPr>
          <a:xfrm>
            <a:off x="457200" y="2121408"/>
            <a:ext cx="12801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Std</a:t>
            </a:r>
            <a:endParaRPr lang="en-US" sz="1000" dirty="0"/>
          </a:p>
        </p:txBody>
      </p:sp>
      <p:sp>
        <p:nvSpPr>
          <p:cNvPr id="11" name="Text 9"/>
          <p:cNvSpPr/>
          <p:nvPr/>
        </p:nvSpPr>
        <p:spPr>
          <a:xfrm>
            <a:off x="1783080" y="2121408"/>
            <a:ext cx="118872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0.1004</a:t>
            </a:r>
            <a:endParaRPr lang="en-US" sz="1000" dirty="0"/>
          </a:p>
        </p:txBody>
      </p:sp>
      <p:sp>
        <p:nvSpPr>
          <p:cNvPr id="12" name="Text 10"/>
          <p:cNvSpPr/>
          <p:nvPr/>
        </p:nvSpPr>
        <p:spPr>
          <a:xfrm>
            <a:off x="457200" y="2395728"/>
            <a:ext cx="12801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90th pct</a:t>
            </a:r>
            <a:endParaRPr lang="en-US" sz="1000" dirty="0"/>
          </a:p>
        </p:txBody>
      </p:sp>
      <p:sp>
        <p:nvSpPr>
          <p:cNvPr id="13" name="Text 11"/>
          <p:cNvSpPr/>
          <p:nvPr/>
        </p:nvSpPr>
        <p:spPr>
          <a:xfrm>
            <a:off x="1783080" y="2395728"/>
            <a:ext cx="118872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0.4465</a:t>
            </a:r>
            <a:endParaRPr lang="en-US" sz="1000" dirty="0"/>
          </a:p>
        </p:txBody>
      </p:sp>
      <p:sp>
        <p:nvSpPr>
          <p:cNvPr id="14" name="Text 12"/>
          <p:cNvSpPr/>
          <p:nvPr/>
        </p:nvSpPr>
        <p:spPr>
          <a:xfrm>
            <a:off x="457200" y="2670048"/>
            <a:ext cx="12801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Worst 5%</a:t>
            </a:r>
            <a:endParaRPr lang="en-US" sz="1000" dirty="0"/>
          </a:p>
        </p:txBody>
      </p:sp>
      <p:sp>
        <p:nvSpPr>
          <p:cNvPr id="15" name="Text 13"/>
          <p:cNvSpPr/>
          <p:nvPr/>
        </p:nvSpPr>
        <p:spPr>
          <a:xfrm>
            <a:off x="1783080" y="2670048"/>
            <a:ext cx="118872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125 imgs</a:t>
            </a:r>
            <a:endParaRPr lang="en-US" sz="1000" dirty="0"/>
          </a:p>
        </p:txBody>
      </p:sp>
      <p:graphicFrame>
        <p:nvGraphicFramePr>
          <p:cNvPr id="16" name="Chart 0" descr=""/>
          <p:cNvGraphicFramePr/>
          <p:nvPr/>
        </p:nvGraphicFramePr>
        <p:xfrm>
          <a:off x="91440" y="3154680"/>
          <a:ext cx="3474720" cy="182880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3429000" y="1097280"/>
            <a:ext cx="5394960" cy="32004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Failure Categories (Worst 30)</a:t>
            </a:r>
            <a:endParaRPr lang="en-US" sz="1300" dirty="0"/>
          </a:p>
        </p:txBody>
      </p:sp>
      <p:sp>
        <p:nvSpPr>
          <p:cNvPr id="18" name="Shape 15"/>
          <p:cNvSpPr/>
          <p:nvPr/>
        </p:nvSpPr>
        <p:spPr>
          <a:xfrm>
            <a:off x="3429000" y="1508760"/>
            <a:ext cx="5394960" cy="566928"/>
          </a:xfrm>
          <a:prstGeom prst="rect">
            <a:avLst/>
          </a:prstGeom>
          <a:solidFill>
            <a:srgbClr val="1E3A4C"/>
          </a:solidFill>
          <a:ln w="12700">
            <a:solidFill>
              <a:srgbClr val="2A4A5E"/>
            </a:solidFill>
            <a:prstDash val="solid"/>
          </a:ln>
        </p:spPr>
      </p:sp>
      <p:sp>
        <p:nvSpPr>
          <p:cNvPr id="19" name="Shape 16"/>
          <p:cNvSpPr/>
          <p:nvPr/>
        </p:nvSpPr>
        <p:spPr>
          <a:xfrm>
            <a:off x="3429000" y="1508760"/>
            <a:ext cx="91440" cy="566928"/>
          </a:xfrm>
          <a:prstGeom prst="rect">
            <a:avLst/>
          </a:prstGeom>
          <a:solidFill>
            <a:srgbClr val="E84855"/>
          </a:solidFill>
          <a:ln w="12700">
            <a:solidFill>
              <a:srgbClr val="E84855"/>
            </a:solidFill>
            <a:prstDash val="solid"/>
          </a:ln>
        </p:spPr>
      </p:sp>
      <p:sp>
        <p:nvSpPr>
          <p:cNvPr id="20" name="Text 17"/>
          <p:cNvSpPr/>
          <p:nvPr/>
        </p:nvSpPr>
        <p:spPr>
          <a:xfrm>
            <a:off x="8138160" y="1554480"/>
            <a:ext cx="685800" cy="228600"/>
          </a:xfrm>
          <a:prstGeom prst="rect">
            <a:avLst/>
          </a:prstGeom>
          <a:noFill/>
          <a:ln/>
        </p:spPr>
        <p:txBody>
          <a:bodyPr wrap="square" lIns="0" tIns="0" rIns="0" bIns="0" rtlCol="0" anchor="ctr"/>
          <a:lstStyle/>
          <a:p>
            <a:pPr algn="r" indent="0" marL="0">
              <a:buNone/>
            </a:pPr>
            <a:r>
              <a:rPr lang="en-US" sz="1400" b="1" dirty="0">
                <a:solidFill>
                  <a:srgbClr val="E84855"/>
                </a:solidFill>
                <a:latin typeface="Calibri" pitchFamily="34" charset="0"/>
                <a:ea typeface="Calibri" pitchFamily="34" charset="-122"/>
                <a:cs typeface="Calibri" pitchFamily="34" charset="-120"/>
              </a:rPr>
              <a:t>83.3%</a:t>
            </a:r>
            <a:endParaRPr lang="en-US" sz="1400" dirty="0"/>
          </a:p>
        </p:txBody>
      </p:sp>
      <p:sp>
        <p:nvSpPr>
          <p:cNvPr id="21" name="Text 18"/>
          <p:cNvSpPr/>
          <p:nvPr/>
        </p:nvSpPr>
        <p:spPr>
          <a:xfrm>
            <a:off x="3611880" y="1536192"/>
            <a:ext cx="429768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Heavy Occlusion / Accessories</a:t>
            </a:r>
            <a:endParaRPr lang="en-US" sz="1100" dirty="0"/>
          </a:p>
        </p:txBody>
      </p:sp>
      <p:sp>
        <p:nvSpPr>
          <p:cNvPr id="22" name="Text 19"/>
          <p:cNvSpPr/>
          <p:nvPr/>
        </p:nvSpPr>
        <p:spPr>
          <a:xfrm>
            <a:off x="3611880" y="1792224"/>
            <a:ext cx="50292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Sunglasses, hats, makeup mask landmark edges</a:t>
            </a:r>
            <a:endParaRPr lang="en-US" sz="900" dirty="0"/>
          </a:p>
        </p:txBody>
      </p:sp>
      <p:sp>
        <p:nvSpPr>
          <p:cNvPr id="23" name="Shape 20"/>
          <p:cNvSpPr/>
          <p:nvPr/>
        </p:nvSpPr>
        <p:spPr>
          <a:xfrm>
            <a:off x="3429000" y="2167128"/>
            <a:ext cx="5394960" cy="566928"/>
          </a:xfrm>
          <a:prstGeom prst="rect">
            <a:avLst/>
          </a:prstGeom>
          <a:solidFill>
            <a:srgbClr val="1E3A4C"/>
          </a:solidFill>
          <a:ln w="12700">
            <a:solidFill>
              <a:srgbClr val="2A4A5E"/>
            </a:solidFill>
            <a:prstDash val="solid"/>
          </a:ln>
        </p:spPr>
      </p:sp>
      <p:sp>
        <p:nvSpPr>
          <p:cNvPr id="24" name="Shape 21"/>
          <p:cNvSpPr/>
          <p:nvPr/>
        </p:nvSpPr>
        <p:spPr>
          <a:xfrm>
            <a:off x="3429000" y="2167128"/>
            <a:ext cx="91440" cy="566928"/>
          </a:xfrm>
          <a:prstGeom prst="rect">
            <a:avLst/>
          </a:prstGeom>
          <a:solidFill>
            <a:srgbClr val="F5A623"/>
          </a:solidFill>
          <a:ln w="12700">
            <a:solidFill>
              <a:srgbClr val="F5A623"/>
            </a:solidFill>
            <a:prstDash val="solid"/>
          </a:ln>
        </p:spPr>
      </p:sp>
      <p:sp>
        <p:nvSpPr>
          <p:cNvPr id="25" name="Text 22"/>
          <p:cNvSpPr/>
          <p:nvPr/>
        </p:nvSpPr>
        <p:spPr>
          <a:xfrm>
            <a:off x="8138160" y="2212848"/>
            <a:ext cx="685800" cy="228600"/>
          </a:xfrm>
          <a:prstGeom prst="rect">
            <a:avLst/>
          </a:prstGeom>
          <a:noFill/>
          <a:ln/>
        </p:spPr>
        <p:txBody>
          <a:bodyPr wrap="square" lIns="0" tIns="0" rIns="0" bIns="0" rtlCol="0" anchor="ctr"/>
          <a:lstStyle/>
          <a:p>
            <a:pPr algn="r" indent="0" marL="0">
              <a:buNone/>
            </a:pPr>
            <a:r>
              <a:rPr lang="en-US" sz="1400" b="1" dirty="0">
                <a:solidFill>
                  <a:srgbClr val="F5A623"/>
                </a:solidFill>
                <a:latin typeface="Calibri" pitchFamily="34" charset="0"/>
                <a:ea typeface="Calibri" pitchFamily="34" charset="-122"/>
                <a:cs typeface="Calibri" pitchFamily="34" charset="-120"/>
              </a:rPr>
              <a:t>10.0%</a:t>
            </a:r>
            <a:endParaRPr lang="en-US" sz="1400" dirty="0"/>
          </a:p>
        </p:txBody>
      </p:sp>
      <p:sp>
        <p:nvSpPr>
          <p:cNvPr id="26" name="Text 23"/>
          <p:cNvSpPr/>
          <p:nvPr/>
        </p:nvSpPr>
        <p:spPr>
          <a:xfrm>
            <a:off x="3611880" y="2194560"/>
            <a:ext cx="429768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Complex Background / Noise</a:t>
            </a:r>
            <a:endParaRPr lang="en-US" sz="1100" dirty="0"/>
          </a:p>
        </p:txBody>
      </p:sp>
      <p:sp>
        <p:nvSpPr>
          <p:cNvPr id="27" name="Text 24"/>
          <p:cNvSpPr/>
          <p:nvPr/>
        </p:nvSpPr>
        <p:spPr>
          <a:xfrm>
            <a:off x="3611880" y="2450592"/>
            <a:ext cx="50292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Non-face edges confuse the encoder</a:t>
            </a:r>
            <a:endParaRPr lang="en-US" sz="900" dirty="0"/>
          </a:p>
        </p:txBody>
      </p:sp>
      <p:sp>
        <p:nvSpPr>
          <p:cNvPr id="28" name="Shape 25"/>
          <p:cNvSpPr/>
          <p:nvPr/>
        </p:nvSpPr>
        <p:spPr>
          <a:xfrm>
            <a:off x="3429000" y="2825496"/>
            <a:ext cx="5394960" cy="566928"/>
          </a:xfrm>
          <a:prstGeom prst="rect">
            <a:avLst/>
          </a:prstGeom>
          <a:solidFill>
            <a:srgbClr val="1E3A4C"/>
          </a:solidFill>
          <a:ln w="12700">
            <a:solidFill>
              <a:srgbClr val="2A4A5E"/>
            </a:solidFill>
            <a:prstDash val="solid"/>
          </a:ln>
        </p:spPr>
      </p:sp>
      <p:sp>
        <p:nvSpPr>
          <p:cNvPr id="29" name="Shape 26"/>
          <p:cNvSpPr/>
          <p:nvPr/>
        </p:nvSpPr>
        <p:spPr>
          <a:xfrm>
            <a:off x="3429000" y="2825496"/>
            <a:ext cx="91440" cy="566928"/>
          </a:xfrm>
          <a:prstGeom prst="rect">
            <a:avLst/>
          </a:prstGeom>
          <a:solidFill>
            <a:srgbClr val="14A8A6"/>
          </a:solidFill>
          <a:ln w="12700">
            <a:solidFill>
              <a:srgbClr val="14A8A6"/>
            </a:solidFill>
            <a:prstDash val="solid"/>
          </a:ln>
        </p:spPr>
      </p:sp>
      <p:sp>
        <p:nvSpPr>
          <p:cNvPr id="30" name="Text 27"/>
          <p:cNvSpPr/>
          <p:nvPr/>
        </p:nvSpPr>
        <p:spPr>
          <a:xfrm>
            <a:off x="8138160" y="2871216"/>
            <a:ext cx="685800" cy="228600"/>
          </a:xfrm>
          <a:prstGeom prst="rect">
            <a:avLst/>
          </a:prstGeom>
          <a:noFill/>
          <a:ln/>
        </p:spPr>
        <p:txBody>
          <a:bodyPr wrap="square" lIns="0" tIns="0" rIns="0" bIns="0" rtlCol="0" anchor="ctr"/>
          <a:lstStyle/>
          <a:p>
            <a:pPr algn="r" indent="0" marL="0">
              <a:buNone/>
            </a:pPr>
            <a:r>
              <a:rPr lang="en-US" sz="1400" b="1" dirty="0">
                <a:solidFill>
                  <a:srgbClr val="14A8A6"/>
                </a:solidFill>
                <a:latin typeface="Calibri" pitchFamily="34" charset="0"/>
                <a:ea typeface="Calibri" pitchFamily="34" charset="-122"/>
                <a:cs typeface="Calibri" pitchFamily="34" charset="-120"/>
              </a:rPr>
              <a:t>6.7%</a:t>
            </a:r>
            <a:endParaRPr lang="en-US" sz="1400" dirty="0"/>
          </a:p>
        </p:txBody>
      </p:sp>
      <p:sp>
        <p:nvSpPr>
          <p:cNvPr id="31" name="Text 28"/>
          <p:cNvSpPr/>
          <p:nvPr/>
        </p:nvSpPr>
        <p:spPr>
          <a:xfrm>
            <a:off x="3611880" y="2852928"/>
            <a:ext cx="429768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Low Contrast / Dark</a:t>
            </a:r>
            <a:endParaRPr lang="en-US" sz="1100" dirty="0"/>
          </a:p>
        </p:txBody>
      </p:sp>
      <p:sp>
        <p:nvSpPr>
          <p:cNvPr id="32" name="Text 29"/>
          <p:cNvSpPr/>
          <p:nvPr/>
        </p:nvSpPr>
        <p:spPr>
          <a:xfrm>
            <a:off x="3611880" y="3108960"/>
            <a:ext cx="50292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Sparse edge maps → average face output</a:t>
            </a:r>
            <a:endParaRPr lang="en-US" sz="900" dirty="0"/>
          </a:p>
        </p:txBody>
      </p:sp>
      <p:sp>
        <p:nvSpPr>
          <p:cNvPr id="33" name="Shape 30"/>
          <p:cNvSpPr/>
          <p:nvPr/>
        </p:nvSpPr>
        <p:spPr>
          <a:xfrm>
            <a:off x="3429000" y="3483864"/>
            <a:ext cx="5394960" cy="566928"/>
          </a:xfrm>
          <a:prstGeom prst="rect">
            <a:avLst/>
          </a:prstGeom>
          <a:solidFill>
            <a:srgbClr val="1E3A4C"/>
          </a:solidFill>
          <a:ln w="12700">
            <a:solidFill>
              <a:srgbClr val="2A4A5E"/>
            </a:solidFill>
            <a:prstDash val="solid"/>
          </a:ln>
        </p:spPr>
      </p:sp>
      <p:sp>
        <p:nvSpPr>
          <p:cNvPr id="34" name="Shape 31"/>
          <p:cNvSpPr/>
          <p:nvPr/>
        </p:nvSpPr>
        <p:spPr>
          <a:xfrm>
            <a:off x="3429000" y="3483864"/>
            <a:ext cx="91440" cy="566928"/>
          </a:xfrm>
          <a:prstGeom prst="rect">
            <a:avLst/>
          </a:prstGeom>
          <a:solidFill>
            <a:srgbClr val="64748B"/>
          </a:solidFill>
          <a:ln w="12700">
            <a:solidFill>
              <a:srgbClr val="64748B"/>
            </a:solidFill>
            <a:prstDash val="solid"/>
          </a:ln>
        </p:spPr>
      </p:sp>
      <p:sp>
        <p:nvSpPr>
          <p:cNvPr id="35" name="Text 32"/>
          <p:cNvSpPr/>
          <p:nvPr/>
        </p:nvSpPr>
        <p:spPr>
          <a:xfrm>
            <a:off x="8138160" y="3529584"/>
            <a:ext cx="685800" cy="228600"/>
          </a:xfrm>
          <a:prstGeom prst="rect">
            <a:avLst/>
          </a:prstGeom>
          <a:noFill/>
          <a:ln/>
        </p:spPr>
        <p:txBody>
          <a:bodyPr wrap="square" lIns="0" tIns="0" rIns="0" bIns="0" rtlCol="0" anchor="ctr"/>
          <a:lstStyle/>
          <a:p>
            <a:pPr algn="r" indent="0" marL="0">
              <a:buNone/>
            </a:pPr>
            <a:r>
              <a:rPr lang="en-US" sz="1400" b="1" dirty="0">
                <a:solidFill>
                  <a:srgbClr val="64748B"/>
                </a:solidFill>
                <a:latin typeface="Calibri" pitchFamily="34" charset="0"/>
                <a:ea typeface="Calibri" pitchFamily="34" charset="-122"/>
                <a:cs typeface="Calibri" pitchFamily="34" charset="-120"/>
              </a:rPr>
              <a:t>0%</a:t>
            </a:r>
            <a:endParaRPr lang="en-US" sz="1400" dirty="0"/>
          </a:p>
        </p:txBody>
      </p:sp>
      <p:sp>
        <p:nvSpPr>
          <p:cNvPr id="36" name="Text 33"/>
          <p:cNvSpPr/>
          <p:nvPr/>
        </p:nvSpPr>
        <p:spPr>
          <a:xfrm>
            <a:off x="3611880" y="3511296"/>
            <a:ext cx="429768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Extreme Pose</a:t>
            </a:r>
            <a:endParaRPr lang="en-US" sz="1100" dirty="0"/>
          </a:p>
        </p:txBody>
      </p:sp>
      <p:sp>
        <p:nvSpPr>
          <p:cNvPr id="37" name="Text 34"/>
          <p:cNvSpPr/>
          <p:nvPr/>
        </p:nvSpPr>
        <p:spPr>
          <a:xfrm>
            <a:off x="3611880" y="3767328"/>
            <a:ext cx="50292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Not a significant source of failure</a:t>
            </a:r>
            <a:endParaRPr lang="en-US" sz="900" dirty="0"/>
          </a:p>
        </p:txBody>
      </p:sp>
      <p:sp>
        <p:nvSpPr>
          <p:cNvPr id="38" name="Shape 35"/>
          <p:cNvSpPr/>
          <p:nvPr/>
        </p:nvSpPr>
        <p:spPr>
          <a:xfrm>
            <a:off x="3429000" y="4160520"/>
            <a:ext cx="5394960" cy="749808"/>
          </a:xfrm>
          <a:prstGeom prst="rect">
            <a:avLst/>
          </a:prstGeom>
          <a:solidFill>
            <a:srgbClr val="1E3A4C"/>
          </a:solidFill>
          <a:ln w="12700">
            <a:solidFill>
              <a:srgbClr val="0E7C7B"/>
            </a:solidFill>
            <a:prstDash val="solid"/>
          </a:ln>
        </p:spPr>
      </p:sp>
      <p:sp>
        <p:nvSpPr>
          <p:cNvPr id="39" name="Text 36"/>
          <p:cNvSpPr/>
          <p:nvPr/>
        </p:nvSpPr>
        <p:spPr>
          <a:xfrm>
            <a:off x="3611880" y="4206240"/>
            <a:ext cx="5029200" cy="25603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Subgroup Analysis</a:t>
            </a:r>
            <a:endParaRPr lang="en-US" sz="1100" dirty="0"/>
          </a:p>
        </p:txBody>
      </p:sp>
      <p:sp>
        <p:nvSpPr>
          <p:cNvPr id="40" name="Text 37"/>
          <p:cNvSpPr/>
          <p:nvPr/>
        </p:nvSpPr>
        <p:spPr>
          <a:xfrm>
            <a:off x="3611880" y="4480560"/>
            <a:ext cx="50292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Male 0.3236 (n=939)  ·  Female 0.3087 (n=1561)  ·  Old 0.3241 (n=486)  ·  Young 0.3120 (n=2014)  ·  Smiling 0.3156  ·  Not Smiling 0.3131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457200" y="201168"/>
            <a:ext cx="8229600" cy="292608"/>
          </a:xfrm>
          <a:prstGeom prst="rect">
            <a:avLst/>
          </a:prstGeom>
          <a:noFill/>
          <a:ln/>
        </p:spPr>
        <p:txBody>
          <a:bodyPr wrap="square" lIns="0" tIns="0" rIns="0" bIns="0" rtlCol="0" anchor="ctr"/>
          <a:lstStyle/>
          <a:p>
            <a:pPr indent="0" marL="0">
              <a:buNone/>
            </a:pPr>
            <a:r>
              <a:rPr lang="en-US" sz="1000" b="1" spc="200" kern="0" dirty="0">
                <a:solidFill>
                  <a:srgbClr val="0E7C7B"/>
                </a:solidFill>
                <a:latin typeface="Calibri" pitchFamily="34" charset="0"/>
                <a:ea typeface="Calibri" pitchFamily="34" charset="-122"/>
                <a:cs typeface="Calibri" pitchFamily="34" charset="-120"/>
              </a:rPr>
              <a:t>05  —  ROBUSTNESS ANALYSIS</a:t>
            </a:r>
            <a:endParaRPr lang="en-US" sz="1000" dirty="0"/>
          </a:p>
        </p:txBody>
      </p:sp>
      <p:sp>
        <p:nvSpPr>
          <p:cNvPr id="3" name="Text 1"/>
          <p:cNvSpPr/>
          <p:nvPr/>
        </p:nvSpPr>
        <p:spPr>
          <a:xfrm>
            <a:off x="457200" y="502920"/>
            <a:ext cx="8229600" cy="475488"/>
          </a:xfrm>
          <a:prstGeom prst="rect">
            <a:avLst/>
          </a:prstGeom>
          <a:noFill/>
          <a:ln/>
        </p:spPr>
        <p:txBody>
          <a:bodyPr wrap="square" lIns="0" tIns="0" rIns="0" bIns="0" rtlCol="0" anchor="ctr"/>
          <a:lstStyle/>
          <a:p>
            <a:pPr indent="0" marL="0">
              <a:buNone/>
            </a:pPr>
            <a:r>
              <a:rPr lang="en-US" sz="2200" b="1" dirty="0">
                <a:solidFill>
                  <a:srgbClr val="0D1B2A"/>
                </a:solidFill>
                <a:latin typeface="Calibri" pitchFamily="34" charset="0"/>
                <a:ea typeface="Calibri" pitchFamily="34" charset="-122"/>
                <a:cs typeface="Calibri" pitchFamily="34" charset="-120"/>
              </a:rPr>
              <a:t>How Well Does It Survive Real-World Degradation?</a:t>
            </a:r>
            <a:endParaRPr lang="en-US" sz="2200" dirty="0"/>
          </a:p>
        </p:txBody>
      </p:sp>
      <p:sp>
        <p:nvSpPr>
          <p:cNvPr id="4" name="Shape 2"/>
          <p:cNvSpPr/>
          <p:nvPr/>
        </p:nvSpPr>
        <p:spPr>
          <a:xfrm>
            <a:off x="274320" y="1097280"/>
            <a:ext cx="8595360" cy="114300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1097280"/>
            <a:ext cx="109728" cy="1143000"/>
          </a:xfrm>
          <a:prstGeom prst="rect">
            <a:avLst/>
          </a:prstGeom>
          <a:solidFill>
            <a:srgbClr val="0E7C7B"/>
          </a:solidFill>
          <a:ln w="12700">
            <a:solidFill>
              <a:srgbClr val="0E7C7B"/>
            </a:solidFill>
            <a:prstDash val="solid"/>
          </a:ln>
        </p:spPr>
      </p:sp>
      <p:sp>
        <p:nvSpPr>
          <p:cNvPr id="6" name="Text 4"/>
          <p:cNvSpPr/>
          <p:nvPr/>
        </p:nvSpPr>
        <p:spPr>
          <a:xfrm>
            <a:off x="502920" y="1170432"/>
            <a:ext cx="320040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Probe 1 — Gaussian Noise</a:t>
            </a:r>
            <a:endParaRPr lang="en-US" sz="1300" dirty="0"/>
          </a:p>
        </p:txBody>
      </p:sp>
      <p:sp>
        <p:nvSpPr>
          <p:cNvPr id="7" name="Text 5"/>
          <p:cNvSpPr/>
          <p:nvPr/>
        </p:nvSpPr>
        <p:spPr>
          <a:xfrm>
            <a:off x="502920" y="1444752"/>
            <a:ext cx="3200400" cy="228600"/>
          </a:xfrm>
          <a:prstGeom prst="rect">
            <a:avLst/>
          </a:prstGeom>
          <a:noFill/>
          <a:ln/>
        </p:spPr>
        <p:txBody>
          <a:bodyPr wrap="square" lIns="0" tIns="0" rIns="0" bIns="0" rtlCol="0" anchor="ctr"/>
          <a:lstStyle/>
          <a:p>
            <a:pPr indent="0" marL="0">
              <a:buNone/>
            </a:pPr>
            <a:r>
              <a:rPr lang="en-US" sz="1000" b="1" dirty="0">
                <a:solidFill>
                  <a:srgbClr val="0E7C7B"/>
                </a:solidFill>
                <a:latin typeface="Calibri" pitchFamily="34" charset="0"/>
                <a:ea typeface="Calibri" pitchFamily="34" charset="-122"/>
                <a:cs typeface="Calibri" pitchFamily="34" charset="-120"/>
              </a:rPr>
              <a:t>σ = 0, 5, 10, 20, 30</a:t>
            </a:r>
            <a:endParaRPr lang="en-US" sz="1000" dirty="0"/>
          </a:p>
        </p:txBody>
      </p:sp>
      <p:sp>
        <p:nvSpPr>
          <p:cNvPr id="8" name="Text 6"/>
          <p:cNvSpPr/>
          <p:nvPr/>
        </p:nvSpPr>
        <p:spPr>
          <a:xfrm>
            <a:off x="3749040" y="1170432"/>
            <a:ext cx="4937760" cy="411480"/>
          </a:xfrm>
          <a:prstGeom prst="rect">
            <a:avLst/>
          </a:prstGeom>
          <a:noFill/>
          <a:ln/>
        </p:spPr>
        <p:txBody>
          <a:bodyPr wrap="square" lIns="0" tIns="0" rIns="0" bIns="0" rtlCol="0" anchor="ctr"/>
          <a:lstStyle/>
          <a:p>
            <a:pPr indent="0" marL="0">
              <a:buNone/>
            </a:pPr>
            <a:r>
              <a:rPr lang="en-US" sz="1050" dirty="0">
                <a:solidFill>
                  <a:srgbClr val="1A2533"/>
                </a:solidFill>
                <a:latin typeface="Calibri" pitchFamily="34" charset="0"/>
                <a:ea typeface="Calibri" pitchFamily="34" charset="-122"/>
                <a:cs typeface="Calibri" pitchFamily="34" charset="-120"/>
              </a:rPr>
              <a:t>Finding: Graceful up to σ=10 (scanner level). Steeper drop at σ=20+.</a:t>
            </a:r>
            <a:endParaRPr lang="en-US" sz="1050" dirty="0"/>
          </a:p>
        </p:txBody>
      </p:sp>
      <p:sp>
        <p:nvSpPr>
          <p:cNvPr id="9" name="Text 7"/>
          <p:cNvSpPr/>
          <p:nvPr/>
        </p:nvSpPr>
        <p:spPr>
          <a:xfrm>
            <a:off x="3749040" y="1627632"/>
            <a:ext cx="4937760" cy="4114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Why it matters: Bilateral filter pre-processing gives inherent noise resilience.</a:t>
            </a:r>
            <a:endParaRPr lang="en-US" sz="1000" dirty="0"/>
          </a:p>
        </p:txBody>
      </p:sp>
      <p:sp>
        <p:nvSpPr>
          <p:cNvPr id="10" name="Shape 8"/>
          <p:cNvSpPr/>
          <p:nvPr/>
        </p:nvSpPr>
        <p:spPr>
          <a:xfrm>
            <a:off x="274320" y="2377440"/>
            <a:ext cx="8595360" cy="114300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74320" y="2377440"/>
            <a:ext cx="109728" cy="1143000"/>
          </a:xfrm>
          <a:prstGeom prst="rect">
            <a:avLst/>
          </a:prstGeom>
          <a:solidFill>
            <a:srgbClr val="0D1B2A"/>
          </a:solidFill>
          <a:ln w="12700">
            <a:solidFill>
              <a:srgbClr val="0D1B2A"/>
            </a:solidFill>
            <a:prstDash val="solid"/>
          </a:ln>
        </p:spPr>
      </p:sp>
      <p:sp>
        <p:nvSpPr>
          <p:cNvPr id="12" name="Text 10"/>
          <p:cNvSpPr/>
          <p:nvPr/>
        </p:nvSpPr>
        <p:spPr>
          <a:xfrm>
            <a:off x="502920" y="2450592"/>
            <a:ext cx="320040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Probe 2 — JPEG Compression</a:t>
            </a:r>
            <a:endParaRPr lang="en-US" sz="1300" dirty="0"/>
          </a:p>
        </p:txBody>
      </p:sp>
      <p:sp>
        <p:nvSpPr>
          <p:cNvPr id="13" name="Text 11"/>
          <p:cNvSpPr/>
          <p:nvPr/>
        </p:nvSpPr>
        <p:spPr>
          <a:xfrm>
            <a:off x="502920" y="2724912"/>
            <a:ext cx="3200400" cy="228600"/>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Quality = 100, 75, 50, 25, 10</a:t>
            </a:r>
            <a:endParaRPr lang="en-US" sz="1000" dirty="0"/>
          </a:p>
        </p:txBody>
      </p:sp>
      <p:sp>
        <p:nvSpPr>
          <p:cNvPr id="14" name="Text 12"/>
          <p:cNvSpPr/>
          <p:nvPr/>
        </p:nvSpPr>
        <p:spPr>
          <a:xfrm>
            <a:off x="3749040" y="2450592"/>
            <a:ext cx="4937760" cy="411480"/>
          </a:xfrm>
          <a:prstGeom prst="rect">
            <a:avLst/>
          </a:prstGeom>
          <a:noFill/>
          <a:ln/>
        </p:spPr>
        <p:txBody>
          <a:bodyPr wrap="square" lIns="0" tIns="0" rIns="0" bIns="0" rtlCol="0" anchor="ctr"/>
          <a:lstStyle/>
          <a:p>
            <a:pPr indent="0" marL="0">
              <a:buNone/>
            </a:pPr>
            <a:r>
              <a:rPr lang="en-US" sz="1050" dirty="0">
                <a:solidFill>
                  <a:srgbClr val="1A2533"/>
                </a:solidFill>
                <a:latin typeface="Calibri" pitchFamily="34" charset="0"/>
                <a:ea typeface="Calibri" pitchFamily="34" charset="-122"/>
                <a:cs typeface="Calibri" pitchFamily="34" charset="-120"/>
              </a:rPr>
              <a:t>Finding: Stable to quality=75. Breaks at quality=25 (DCT artifacts).</a:t>
            </a:r>
            <a:endParaRPr lang="en-US" sz="1050" dirty="0"/>
          </a:p>
        </p:txBody>
      </p:sp>
      <p:sp>
        <p:nvSpPr>
          <p:cNvPr id="15" name="Text 13"/>
          <p:cNvSpPr/>
          <p:nvPr/>
        </p:nvSpPr>
        <p:spPr>
          <a:xfrm>
            <a:off x="3749040" y="2907792"/>
            <a:ext cx="4937760" cy="4114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Why it matters: Forensic sketches are often stored as JPEG — practically relevant.</a:t>
            </a:r>
            <a:endParaRPr lang="en-US" sz="1000" dirty="0"/>
          </a:p>
        </p:txBody>
      </p:sp>
      <p:sp>
        <p:nvSpPr>
          <p:cNvPr id="16" name="Shape 14"/>
          <p:cNvSpPr/>
          <p:nvPr/>
        </p:nvSpPr>
        <p:spPr>
          <a:xfrm>
            <a:off x="274320" y="3657600"/>
            <a:ext cx="8595360" cy="114300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274320" y="3657600"/>
            <a:ext cx="109728" cy="1143000"/>
          </a:xfrm>
          <a:prstGeom prst="rect">
            <a:avLst/>
          </a:prstGeom>
          <a:solidFill>
            <a:srgbClr val="F5A623"/>
          </a:solidFill>
          <a:ln w="12700">
            <a:solidFill>
              <a:srgbClr val="F5A623"/>
            </a:solidFill>
            <a:prstDash val="solid"/>
          </a:ln>
        </p:spPr>
      </p:sp>
      <p:sp>
        <p:nvSpPr>
          <p:cNvPr id="18" name="Text 16"/>
          <p:cNvSpPr/>
          <p:nvPr/>
        </p:nvSpPr>
        <p:spPr>
          <a:xfrm>
            <a:off x="502920" y="3730752"/>
            <a:ext cx="320040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Probe 3 — Dilation Kernel</a:t>
            </a:r>
            <a:endParaRPr lang="en-US" sz="1300" dirty="0"/>
          </a:p>
        </p:txBody>
      </p:sp>
      <p:sp>
        <p:nvSpPr>
          <p:cNvPr id="19" name="Text 17"/>
          <p:cNvSpPr/>
          <p:nvPr/>
        </p:nvSpPr>
        <p:spPr>
          <a:xfrm>
            <a:off x="502920" y="4005072"/>
            <a:ext cx="3200400" cy="22860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1×1 to 4×4 kernels</a:t>
            </a:r>
            <a:endParaRPr lang="en-US" sz="1000" dirty="0"/>
          </a:p>
        </p:txBody>
      </p:sp>
      <p:sp>
        <p:nvSpPr>
          <p:cNvPr id="20" name="Text 18"/>
          <p:cNvSpPr/>
          <p:nvPr/>
        </p:nvSpPr>
        <p:spPr>
          <a:xfrm>
            <a:off x="3749040" y="3730752"/>
            <a:ext cx="4937760" cy="411480"/>
          </a:xfrm>
          <a:prstGeom prst="rect">
            <a:avLst/>
          </a:prstGeom>
          <a:noFill/>
          <a:ln/>
        </p:spPr>
        <p:txBody>
          <a:bodyPr wrap="square" lIns="0" tIns="0" rIns="0" bIns="0" rtlCol="0" anchor="ctr"/>
          <a:lstStyle/>
          <a:p>
            <a:pPr indent="0" marL="0">
              <a:buNone/>
            </a:pPr>
            <a:r>
              <a:rPr lang="en-US" sz="1050" dirty="0">
                <a:solidFill>
                  <a:srgbClr val="1A2533"/>
                </a:solidFill>
                <a:latin typeface="Calibri" pitchFamily="34" charset="0"/>
                <a:ea typeface="Calibri" pitchFamily="34" charset="-122"/>
                <a:cs typeface="Calibri" pitchFamily="34" charset="-120"/>
              </a:rPr>
              <a:t>Finding: Peaks at 2×2 (training setting). Thick lines merge edges.</a:t>
            </a:r>
            <a:endParaRPr lang="en-US" sz="1050" dirty="0"/>
          </a:p>
        </p:txBody>
      </p:sp>
      <p:sp>
        <p:nvSpPr>
          <p:cNvPr id="21" name="Text 19"/>
          <p:cNvSpPr/>
          <p:nvPr/>
        </p:nvSpPr>
        <p:spPr>
          <a:xfrm>
            <a:off x="3749040" y="4187952"/>
            <a:ext cx="4937760" cy="4114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Why it matters: Model is sensitive to its own preprocessing parameters.</a:t>
            </a:r>
            <a:endParaRPr lang="en-US" sz="1000" dirty="0"/>
          </a:p>
        </p:txBody>
      </p:sp>
      <p:sp>
        <p:nvSpPr>
          <p:cNvPr id="22" name="Text 20"/>
          <p:cNvSpPr/>
          <p:nvPr/>
        </p:nvSpPr>
        <p:spPr>
          <a:xfrm>
            <a:off x="274320" y="4800600"/>
            <a:ext cx="859536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All probes on 200-image test subset. Curves available in report Figure 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292608"/>
          </a:xfrm>
          <a:prstGeom prst="rect">
            <a:avLst/>
          </a:prstGeom>
          <a:noFill/>
          <a:ln/>
        </p:spPr>
        <p:txBody>
          <a:bodyPr wrap="square" lIns="0" tIns="0" rIns="0" bIns="0" rtlCol="0" anchor="ctr"/>
          <a:lstStyle/>
          <a:p>
            <a:pPr indent="0" marL="0">
              <a:buNone/>
            </a:pPr>
            <a:r>
              <a:rPr lang="en-US" sz="1000" b="1" spc="200" kern="0" dirty="0">
                <a:solidFill>
                  <a:srgbClr val="14A8A6"/>
                </a:solidFill>
                <a:latin typeface="Calibri" pitchFamily="34" charset="0"/>
                <a:ea typeface="Calibri" pitchFamily="34" charset="-122"/>
                <a:cs typeface="Calibri" pitchFamily="34" charset="-120"/>
              </a:rPr>
              <a:t>06  —  EFFICIENCY REPORT</a:t>
            </a:r>
            <a:endParaRPr lang="en-US" sz="1000" dirty="0"/>
          </a:p>
        </p:txBody>
      </p:sp>
      <p:sp>
        <p:nvSpPr>
          <p:cNvPr id="3" name="Text 1"/>
          <p:cNvSpPr/>
          <p:nvPr/>
        </p:nvSpPr>
        <p:spPr>
          <a:xfrm>
            <a:off x="457200" y="502920"/>
            <a:ext cx="8229600" cy="47548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Speed, Size &amp; Training Cost</a:t>
            </a:r>
            <a:endParaRPr lang="en-US" sz="2800" dirty="0"/>
          </a:p>
        </p:txBody>
      </p:sp>
      <p:sp>
        <p:nvSpPr>
          <p:cNvPr id="4" name="Shape 2"/>
          <p:cNvSpPr/>
          <p:nvPr/>
        </p:nvSpPr>
        <p:spPr>
          <a:xfrm>
            <a:off x="274320" y="1143000"/>
            <a:ext cx="2743200" cy="2926080"/>
          </a:xfrm>
          <a:prstGeom prst="rect">
            <a:avLst/>
          </a:prstGeom>
          <a:solidFill>
            <a:srgbClr val="1E3A4C"/>
          </a:solidFill>
          <a:ln w="12700">
            <a:solidFill>
              <a:srgbClr val="64748B"/>
            </a:solidFill>
            <a:prstDash val="solid"/>
          </a:ln>
        </p:spPr>
      </p:sp>
      <p:sp>
        <p:nvSpPr>
          <p:cNvPr id="5" name="Shape 3"/>
          <p:cNvSpPr/>
          <p:nvPr/>
        </p:nvSpPr>
        <p:spPr>
          <a:xfrm>
            <a:off x="274320" y="1143000"/>
            <a:ext cx="2743200" cy="91440"/>
          </a:xfrm>
          <a:prstGeom prst="rect">
            <a:avLst/>
          </a:prstGeom>
          <a:solidFill>
            <a:srgbClr val="64748B"/>
          </a:solidFill>
          <a:ln w="12700">
            <a:solidFill>
              <a:srgbClr val="64748B"/>
            </a:solidFill>
            <a:prstDash val="solid"/>
          </a:ln>
        </p:spPr>
      </p:sp>
      <p:sp>
        <p:nvSpPr>
          <p:cNvPr id="6" name="Text 4"/>
          <p:cNvSpPr/>
          <p:nvPr/>
        </p:nvSpPr>
        <p:spPr>
          <a:xfrm>
            <a:off x="384048" y="1234440"/>
            <a:ext cx="2514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Official pSp</a:t>
            </a:r>
            <a:endParaRPr lang="en-US" sz="1200" dirty="0"/>
          </a:p>
        </p:txBody>
      </p:sp>
      <p:sp>
        <p:nvSpPr>
          <p:cNvPr id="7" name="Text 5"/>
          <p:cNvSpPr/>
          <p:nvPr/>
        </p:nvSpPr>
        <p:spPr>
          <a:xfrm>
            <a:off x="384048" y="1627632"/>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Parameters</a:t>
            </a:r>
            <a:endParaRPr lang="en-US" sz="950" dirty="0"/>
          </a:p>
        </p:txBody>
      </p:sp>
      <p:sp>
        <p:nvSpPr>
          <p:cNvPr id="8" name="Text 6"/>
          <p:cNvSpPr/>
          <p:nvPr/>
        </p:nvSpPr>
        <p:spPr>
          <a:xfrm>
            <a:off x="1600200" y="1627632"/>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297.5M</a:t>
            </a:r>
            <a:endParaRPr lang="en-US" sz="950" dirty="0"/>
          </a:p>
        </p:txBody>
      </p:sp>
      <p:sp>
        <p:nvSpPr>
          <p:cNvPr id="9" name="Text 7"/>
          <p:cNvSpPr/>
          <p:nvPr/>
        </p:nvSpPr>
        <p:spPr>
          <a:xfrm>
            <a:off x="384048" y="1975104"/>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File Size</a:t>
            </a:r>
            <a:endParaRPr lang="en-US" sz="950" dirty="0"/>
          </a:p>
        </p:txBody>
      </p:sp>
      <p:sp>
        <p:nvSpPr>
          <p:cNvPr id="10" name="Text 8"/>
          <p:cNvSpPr/>
          <p:nvPr/>
        </p:nvSpPr>
        <p:spPr>
          <a:xfrm>
            <a:off x="1600200" y="1975104"/>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1201.5 MB</a:t>
            </a:r>
            <a:endParaRPr lang="en-US" sz="950" dirty="0"/>
          </a:p>
        </p:txBody>
      </p:sp>
      <p:sp>
        <p:nvSpPr>
          <p:cNvPr id="11" name="Text 9"/>
          <p:cNvSpPr/>
          <p:nvPr/>
        </p:nvSpPr>
        <p:spPr>
          <a:xfrm>
            <a:off x="384048" y="2322576"/>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Single img</a:t>
            </a:r>
            <a:endParaRPr lang="en-US" sz="950" dirty="0"/>
          </a:p>
        </p:txBody>
      </p:sp>
      <p:sp>
        <p:nvSpPr>
          <p:cNvPr id="12" name="Text 10"/>
          <p:cNvSpPr/>
          <p:nvPr/>
        </p:nvSpPr>
        <p:spPr>
          <a:xfrm>
            <a:off x="1600200" y="2322576"/>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74.0 ms</a:t>
            </a:r>
            <a:endParaRPr lang="en-US" sz="950" dirty="0"/>
          </a:p>
        </p:txBody>
      </p:sp>
      <p:sp>
        <p:nvSpPr>
          <p:cNvPr id="13" name="Text 11"/>
          <p:cNvSpPr/>
          <p:nvPr/>
        </p:nvSpPr>
        <p:spPr>
          <a:xfrm>
            <a:off x="384048" y="2670048"/>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Batch=8</a:t>
            </a:r>
            <a:endParaRPr lang="en-US" sz="950" dirty="0"/>
          </a:p>
        </p:txBody>
      </p:sp>
      <p:sp>
        <p:nvSpPr>
          <p:cNvPr id="14" name="Text 12"/>
          <p:cNvSpPr/>
          <p:nvPr/>
        </p:nvSpPr>
        <p:spPr>
          <a:xfrm>
            <a:off x="1600200" y="2670048"/>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450.1 ms</a:t>
            </a:r>
            <a:endParaRPr lang="en-US" sz="950" dirty="0"/>
          </a:p>
        </p:txBody>
      </p:sp>
      <p:sp>
        <p:nvSpPr>
          <p:cNvPr id="15" name="Text 13"/>
          <p:cNvSpPr/>
          <p:nvPr/>
        </p:nvSpPr>
        <p:spPr>
          <a:xfrm>
            <a:off x="384048" y="3017520"/>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FLOPs</a:t>
            </a:r>
            <a:endParaRPr lang="en-US" sz="950" dirty="0"/>
          </a:p>
        </p:txBody>
      </p:sp>
      <p:sp>
        <p:nvSpPr>
          <p:cNvPr id="16" name="Text 14"/>
          <p:cNvSpPr/>
          <p:nvPr/>
        </p:nvSpPr>
        <p:spPr>
          <a:xfrm>
            <a:off x="1600200" y="3017520"/>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72.54G</a:t>
            </a:r>
            <a:endParaRPr lang="en-US" sz="950" dirty="0"/>
          </a:p>
        </p:txBody>
      </p:sp>
      <p:sp>
        <p:nvSpPr>
          <p:cNvPr id="17" name="Text 15"/>
          <p:cNvSpPr/>
          <p:nvPr/>
        </p:nvSpPr>
        <p:spPr>
          <a:xfrm>
            <a:off x="384048" y="3364992"/>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Peak GPU</a:t>
            </a:r>
            <a:endParaRPr lang="en-US" sz="950" dirty="0"/>
          </a:p>
        </p:txBody>
      </p:sp>
      <p:sp>
        <p:nvSpPr>
          <p:cNvPr id="18" name="Text 16"/>
          <p:cNvSpPr/>
          <p:nvPr/>
        </p:nvSpPr>
        <p:spPr>
          <a:xfrm>
            <a:off x="1600200" y="3364992"/>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4906.5 MB</a:t>
            </a:r>
            <a:endParaRPr lang="en-US" sz="950" dirty="0"/>
          </a:p>
        </p:txBody>
      </p:sp>
      <p:sp>
        <p:nvSpPr>
          <p:cNvPr id="19" name="Shape 17"/>
          <p:cNvSpPr/>
          <p:nvPr/>
        </p:nvSpPr>
        <p:spPr>
          <a:xfrm>
            <a:off x="3182112" y="1143000"/>
            <a:ext cx="2743200" cy="2926080"/>
          </a:xfrm>
          <a:prstGeom prst="rect">
            <a:avLst/>
          </a:prstGeom>
          <a:solidFill>
            <a:srgbClr val="1E3A4C"/>
          </a:solidFill>
          <a:ln w="12700">
            <a:solidFill>
              <a:srgbClr val="14A8A6"/>
            </a:solidFill>
            <a:prstDash val="solid"/>
          </a:ln>
        </p:spPr>
      </p:sp>
      <p:sp>
        <p:nvSpPr>
          <p:cNvPr id="20" name="Shape 18"/>
          <p:cNvSpPr/>
          <p:nvPr/>
        </p:nvSpPr>
        <p:spPr>
          <a:xfrm>
            <a:off x="3182112" y="1143000"/>
            <a:ext cx="2743200" cy="91440"/>
          </a:xfrm>
          <a:prstGeom prst="rect">
            <a:avLst/>
          </a:prstGeom>
          <a:solidFill>
            <a:srgbClr val="14A8A6"/>
          </a:solidFill>
          <a:ln w="12700">
            <a:solidFill>
              <a:srgbClr val="14A8A6"/>
            </a:solidFill>
            <a:prstDash val="solid"/>
          </a:ln>
        </p:spPr>
      </p:sp>
      <p:sp>
        <p:nvSpPr>
          <p:cNvPr id="21" name="Text 19"/>
          <p:cNvSpPr/>
          <p:nvPr/>
        </p:nvSpPr>
        <p:spPr>
          <a:xfrm>
            <a:off x="3291840" y="1234440"/>
            <a:ext cx="2514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Phase 3 scratch</a:t>
            </a:r>
            <a:endParaRPr lang="en-US" sz="1200" dirty="0"/>
          </a:p>
        </p:txBody>
      </p:sp>
      <p:sp>
        <p:nvSpPr>
          <p:cNvPr id="22" name="Text 20"/>
          <p:cNvSpPr/>
          <p:nvPr/>
        </p:nvSpPr>
        <p:spPr>
          <a:xfrm>
            <a:off x="3291840" y="1627632"/>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Parameters</a:t>
            </a:r>
            <a:endParaRPr lang="en-US" sz="950" dirty="0"/>
          </a:p>
        </p:txBody>
      </p:sp>
      <p:sp>
        <p:nvSpPr>
          <p:cNvPr id="23" name="Text 21"/>
          <p:cNvSpPr/>
          <p:nvPr/>
        </p:nvSpPr>
        <p:spPr>
          <a:xfrm>
            <a:off x="4507992" y="1627632"/>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39.8M</a:t>
            </a:r>
            <a:endParaRPr lang="en-US" sz="950" dirty="0"/>
          </a:p>
        </p:txBody>
      </p:sp>
      <p:sp>
        <p:nvSpPr>
          <p:cNvPr id="24" name="Text 22"/>
          <p:cNvSpPr/>
          <p:nvPr/>
        </p:nvSpPr>
        <p:spPr>
          <a:xfrm>
            <a:off x="3291840" y="1975104"/>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File Size</a:t>
            </a:r>
            <a:endParaRPr lang="en-US" sz="950" dirty="0"/>
          </a:p>
        </p:txBody>
      </p:sp>
      <p:sp>
        <p:nvSpPr>
          <p:cNvPr id="25" name="Text 23"/>
          <p:cNvSpPr/>
          <p:nvPr/>
        </p:nvSpPr>
        <p:spPr>
          <a:xfrm>
            <a:off x="4507992" y="1975104"/>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477.5 MB</a:t>
            </a:r>
            <a:endParaRPr lang="en-US" sz="950" dirty="0"/>
          </a:p>
        </p:txBody>
      </p:sp>
      <p:sp>
        <p:nvSpPr>
          <p:cNvPr id="26" name="Text 24"/>
          <p:cNvSpPr/>
          <p:nvPr/>
        </p:nvSpPr>
        <p:spPr>
          <a:xfrm>
            <a:off x="3291840" y="2322576"/>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Single img</a:t>
            </a:r>
            <a:endParaRPr lang="en-US" sz="950" dirty="0"/>
          </a:p>
        </p:txBody>
      </p:sp>
      <p:sp>
        <p:nvSpPr>
          <p:cNvPr id="27" name="Text 25"/>
          <p:cNvSpPr/>
          <p:nvPr/>
        </p:nvSpPr>
        <p:spPr>
          <a:xfrm>
            <a:off x="4507992" y="2322576"/>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20.8 ms</a:t>
            </a:r>
            <a:endParaRPr lang="en-US" sz="950" dirty="0"/>
          </a:p>
        </p:txBody>
      </p:sp>
      <p:sp>
        <p:nvSpPr>
          <p:cNvPr id="28" name="Text 26"/>
          <p:cNvSpPr/>
          <p:nvPr/>
        </p:nvSpPr>
        <p:spPr>
          <a:xfrm>
            <a:off x="3291840" y="2670048"/>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Batch=8</a:t>
            </a:r>
            <a:endParaRPr lang="en-US" sz="950" dirty="0"/>
          </a:p>
        </p:txBody>
      </p:sp>
      <p:sp>
        <p:nvSpPr>
          <p:cNvPr id="29" name="Text 27"/>
          <p:cNvSpPr/>
          <p:nvPr/>
        </p:nvSpPr>
        <p:spPr>
          <a:xfrm>
            <a:off x="4507992" y="2670048"/>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71.0 ms</a:t>
            </a:r>
            <a:endParaRPr lang="en-US" sz="950" dirty="0"/>
          </a:p>
        </p:txBody>
      </p:sp>
      <p:sp>
        <p:nvSpPr>
          <p:cNvPr id="30" name="Text 28"/>
          <p:cNvSpPr/>
          <p:nvPr/>
        </p:nvSpPr>
        <p:spPr>
          <a:xfrm>
            <a:off x="3291840" y="3017520"/>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FLOPs</a:t>
            </a:r>
            <a:endParaRPr lang="en-US" sz="950" dirty="0"/>
          </a:p>
        </p:txBody>
      </p:sp>
      <p:sp>
        <p:nvSpPr>
          <p:cNvPr id="31" name="Text 29"/>
          <p:cNvSpPr/>
          <p:nvPr/>
        </p:nvSpPr>
        <p:spPr>
          <a:xfrm>
            <a:off x="4507992" y="3017520"/>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N/A</a:t>
            </a:r>
            <a:endParaRPr lang="en-US" sz="950" dirty="0"/>
          </a:p>
        </p:txBody>
      </p:sp>
      <p:sp>
        <p:nvSpPr>
          <p:cNvPr id="32" name="Text 30"/>
          <p:cNvSpPr/>
          <p:nvPr/>
        </p:nvSpPr>
        <p:spPr>
          <a:xfrm>
            <a:off x="3291840" y="3364992"/>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Peak GPU</a:t>
            </a:r>
            <a:endParaRPr lang="en-US" sz="950" dirty="0"/>
          </a:p>
        </p:txBody>
      </p:sp>
      <p:sp>
        <p:nvSpPr>
          <p:cNvPr id="33" name="Text 31"/>
          <p:cNvSpPr/>
          <p:nvPr/>
        </p:nvSpPr>
        <p:spPr>
          <a:xfrm>
            <a:off x="4507992" y="3364992"/>
            <a:ext cx="128016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 fill ]</a:t>
            </a:r>
            <a:endParaRPr lang="en-US" sz="950" dirty="0"/>
          </a:p>
        </p:txBody>
      </p:sp>
      <p:sp>
        <p:nvSpPr>
          <p:cNvPr id="34" name="Shape 32"/>
          <p:cNvSpPr/>
          <p:nvPr/>
        </p:nvSpPr>
        <p:spPr>
          <a:xfrm>
            <a:off x="6089904" y="1143000"/>
            <a:ext cx="2743200" cy="2926080"/>
          </a:xfrm>
          <a:prstGeom prst="rect">
            <a:avLst/>
          </a:prstGeom>
          <a:solidFill>
            <a:srgbClr val="1E3A4C"/>
          </a:solidFill>
          <a:ln w="12700">
            <a:solidFill>
              <a:srgbClr val="0E7C7B"/>
            </a:solidFill>
            <a:prstDash val="solid"/>
          </a:ln>
        </p:spPr>
      </p:sp>
      <p:sp>
        <p:nvSpPr>
          <p:cNvPr id="35" name="Shape 33"/>
          <p:cNvSpPr/>
          <p:nvPr/>
        </p:nvSpPr>
        <p:spPr>
          <a:xfrm>
            <a:off x="6089904" y="1143000"/>
            <a:ext cx="2743200" cy="91440"/>
          </a:xfrm>
          <a:prstGeom prst="rect">
            <a:avLst/>
          </a:prstGeom>
          <a:solidFill>
            <a:srgbClr val="0E7C7B"/>
          </a:solidFill>
          <a:ln w="12700">
            <a:solidFill>
              <a:srgbClr val="0E7C7B"/>
            </a:solidFill>
            <a:prstDash val="solid"/>
          </a:ln>
        </p:spPr>
      </p:sp>
      <p:sp>
        <p:nvSpPr>
          <p:cNvPr id="36" name="Text 34"/>
          <p:cNvSpPr/>
          <p:nvPr/>
        </p:nvSpPr>
        <p:spPr>
          <a:xfrm>
            <a:off x="6199632" y="1234440"/>
            <a:ext cx="2514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Phase 4 ResNet</a:t>
            </a:r>
            <a:endParaRPr lang="en-US" sz="1200" dirty="0"/>
          </a:p>
        </p:txBody>
      </p:sp>
      <p:sp>
        <p:nvSpPr>
          <p:cNvPr id="37" name="Text 35"/>
          <p:cNvSpPr/>
          <p:nvPr/>
        </p:nvSpPr>
        <p:spPr>
          <a:xfrm>
            <a:off x="6199632" y="1627632"/>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Parameters</a:t>
            </a:r>
            <a:endParaRPr lang="en-US" sz="950" dirty="0"/>
          </a:p>
        </p:txBody>
      </p:sp>
      <p:sp>
        <p:nvSpPr>
          <p:cNvPr id="38" name="Text 36"/>
          <p:cNvSpPr/>
          <p:nvPr/>
        </p:nvSpPr>
        <p:spPr>
          <a:xfrm>
            <a:off x="7415784" y="1627632"/>
            <a:ext cx="1280160" cy="274320"/>
          </a:xfrm>
          <a:prstGeom prst="rect">
            <a:avLst/>
          </a:prstGeom>
          <a:noFill/>
          <a:ln/>
        </p:spPr>
        <p:txBody>
          <a:bodyPr wrap="square" lIns="0" tIns="0" rIns="0" bIns="0" rtlCol="0" anchor="ctr"/>
          <a:lstStyle/>
          <a:p>
            <a:pPr indent="0" marL="0">
              <a:buNone/>
            </a:pPr>
            <a:r>
              <a:rPr lang="en-US" sz="950" b="1" dirty="0">
                <a:solidFill>
                  <a:srgbClr val="0E7C7B"/>
                </a:solidFill>
                <a:latin typeface="Calibri" pitchFamily="34" charset="0"/>
                <a:ea typeface="Calibri" pitchFamily="34" charset="-122"/>
                <a:cs typeface="Calibri" pitchFamily="34" charset="-120"/>
              </a:rPr>
              <a:t>53.8M</a:t>
            </a:r>
            <a:endParaRPr lang="en-US" sz="950" dirty="0"/>
          </a:p>
        </p:txBody>
      </p:sp>
      <p:sp>
        <p:nvSpPr>
          <p:cNvPr id="39" name="Text 37"/>
          <p:cNvSpPr/>
          <p:nvPr/>
        </p:nvSpPr>
        <p:spPr>
          <a:xfrm>
            <a:off x="6199632" y="1975104"/>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File Size</a:t>
            </a:r>
            <a:endParaRPr lang="en-US" sz="950" dirty="0"/>
          </a:p>
        </p:txBody>
      </p:sp>
      <p:sp>
        <p:nvSpPr>
          <p:cNvPr id="40" name="Text 38"/>
          <p:cNvSpPr/>
          <p:nvPr/>
        </p:nvSpPr>
        <p:spPr>
          <a:xfrm>
            <a:off x="7415784" y="1975104"/>
            <a:ext cx="1280160" cy="274320"/>
          </a:xfrm>
          <a:prstGeom prst="rect">
            <a:avLst/>
          </a:prstGeom>
          <a:noFill/>
          <a:ln/>
        </p:spPr>
        <p:txBody>
          <a:bodyPr wrap="square" lIns="0" tIns="0" rIns="0" bIns="0" rtlCol="0" anchor="ctr"/>
          <a:lstStyle/>
          <a:p>
            <a:pPr indent="0" marL="0">
              <a:buNone/>
            </a:pPr>
            <a:r>
              <a:rPr lang="en-US" sz="950" b="1" dirty="0">
                <a:solidFill>
                  <a:srgbClr val="0E7C7B"/>
                </a:solidFill>
                <a:latin typeface="Calibri" pitchFamily="34" charset="0"/>
                <a:ea typeface="Calibri" pitchFamily="34" charset="-122"/>
                <a:cs typeface="Calibri" pitchFamily="34" charset="-120"/>
              </a:rPr>
              <a:t>215.7 MB</a:t>
            </a:r>
            <a:endParaRPr lang="en-US" sz="950" dirty="0"/>
          </a:p>
        </p:txBody>
      </p:sp>
      <p:sp>
        <p:nvSpPr>
          <p:cNvPr id="41" name="Text 39"/>
          <p:cNvSpPr/>
          <p:nvPr/>
        </p:nvSpPr>
        <p:spPr>
          <a:xfrm>
            <a:off x="6199632" y="2322576"/>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Single img</a:t>
            </a:r>
            <a:endParaRPr lang="en-US" sz="950" dirty="0"/>
          </a:p>
        </p:txBody>
      </p:sp>
      <p:sp>
        <p:nvSpPr>
          <p:cNvPr id="42" name="Text 40"/>
          <p:cNvSpPr/>
          <p:nvPr/>
        </p:nvSpPr>
        <p:spPr>
          <a:xfrm>
            <a:off x="7415784" y="2322576"/>
            <a:ext cx="1280160" cy="274320"/>
          </a:xfrm>
          <a:prstGeom prst="rect">
            <a:avLst/>
          </a:prstGeom>
          <a:noFill/>
          <a:ln/>
        </p:spPr>
        <p:txBody>
          <a:bodyPr wrap="square" lIns="0" tIns="0" rIns="0" bIns="0" rtlCol="0" anchor="ctr"/>
          <a:lstStyle/>
          <a:p>
            <a:pPr indent="0" marL="0">
              <a:buNone/>
            </a:pPr>
            <a:r>
              <a:rPr lang="en-US" sz="950" b="1" dirty="0">
                <a:solidFill>
                  <a:srgbClr val="0E7C7B"/>
                </a:solidFill>
                <a:latin typeface="Calibri" pitchFamily="34" charset="0"/>
                <a:ea typeface="Calibri" pitchFamily="34" charset="-122"/>
                <a:cs typeface="Calibri" pitchFamily="34" charset="-120"/>
              </a:rPr>
              <a:t>31.6 ms</a:t>
            </a:r>
            <a:endParaRPr lang="en-US" sz="950" dirty="0"/>
          </a:p>
        </p:txBody>
      </p:sp>
      <p:sp>
        <p:nvSpPr>
          <p:cNvPr id="43" name="Text 41"/>
          <p:cNvSpPr/>
          <p:nvPr/>
        </p:nvSpPr>
        <p:spPr>
          <a:xfrm>
            <a:off x="6199632" y="2670048"/>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Batch=8</a:t>
            </a:r>
            <a:endParaRPr lang="en-US" sz="950" dirty="0"/>
          </a:p>
        </p:txBody>
      </p:sp>
      <p:sp>
        <p:nvSpPr>
          <p:cNvPr id="44" name="Text 42"/>
          <p:cNvSpPr/>
          <p:nvPr/>
        </p:nvSpPr>
        <p:spPr>
          <a:xfrm>
            <a:off x="7415784" y="2670048"/>
            <a:ext cx="1280160" cy="274320"/>
          </a:xfrm>
          <a:prstGeom prst="rect">
            <a:avLst/>
          </a:prstGeom>
          <a:noFill/>
          <a:ln/>
        </p:spPr>
        <p:txBody>
          <a:bodyPr wrap="square" lIns="0" tIns="0" rIns="0" bIns="0" rtlCol="0" anchor="ctr"/>
          <a:lstStyle/>
          <a:p>
            <a:pPr indent="0" marL="0">
              <a:buNone/>
            </a:pPr>
            <a:r>
              <a:rPr lang="en-US" sz="950" b="1" dirty="0">
                <a:solidFill>
                  <a:srgbClr val="0E7C7B"/>
                </a:solidFill>
                <a:latin typeface="Calibri" pitchFamily="34" charset="0"/>
                <a:ea typeface="Calibri" pitchFamily="34" charset="-122"/>
                <a:cs typeface="Calibri" pitchFamily="34" charset="-120"/>
              </a:rPr>
              <a:t>45.8 ms</a:t>
            </a:r>
            <a:endParaRPr lang="en-US" sz="950" dirty="0"/>
          </a:p>
        </p:txBody>
      </p:sp>
      <p:sp>
        <p:nvSpPr>
          <p:cNvPr id="45" name="Text 43"/>
          <p:cNvSpPr/>
          <p:nvPr/>
        </p:nvSpPr>
        <p:spPr>
          <a:xfrm>
            <a:off x="6199632" y="3017520"/>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FLOPs</a:t>
            </a:r>
            <a:endParaRPr lang="en-US" sz="950" dirty="0"/>
          </a:p>
        </p:txBody>
      </p:sp>
      <p:sp>
        <p:nvSpPr>
          <p:cNvPr id="46" name="Text 44"/>
          <p:cNvSpPr/>
          <p:nvPr/>
        </p:nvSpPr>
        <p:spPr>
          <a:xfrm>
            <a:off x="7415784" y="3017520"/>
            <a:ext cx="1280160" cy="274320"/>
          </a:xfrm>
          <a:prstGeom prst="rect">
            <a:avLst/>
          </a:prstGeom>
          <a:noFill/>
          <a:ln/>
        </p:spPr>
        <p:txBody>
          <a:bodyPr wrap="square" lIns="0" tIns="0" rIns="0" bIns="0" rtlCol="0" anchor="ctr"/>
          <a:lstStyle/>
          <a:p>
            <a:pPr indent="0" marL="0">
              <a:buNone/>
            </a:pPr>
            <a:r>
              <a:rPr lang="en-US" sz="950" b="1" dirty="0">
                <a:solidFill>
                  <a:srgbClr val="0E7C7B"/>
                </a:solidFill>
                <a:latin typeface="Calibri" pitchFamily="34" charset="0"/>
                <a:ea typeface="Calibri" pitchFamily="34" charset="-122"/>
                <a:cs typeface="Calibri" pitchFamily="34" charset="-120"/>
              </a:rPr>
              <a:t>N/A</a:t>
            </a:r>
            <a:endParaRPr lang="en-US" sz="950" dirty="0"/>
          </a:p>
        </p:txBody>
      </p:sp>
      <p:sp>
        <p:nvSpPr>
          <p:cNvPr id="47" name="Text 45"/>
          <p:cNvSpPr/>
          <p:nvPr/>
        </p:nvSpPr>
        <p:spPr>
          <a:xfrm>
            <a:off x="6199632" y="3364992"/>
            <a:ext cx="118872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Peak GPU</a:t>
            </a:r>
            <a:endParaRPr lang="en-US" sz="950" dirty="0"/>
          </a:p>
        </p:txBody>
      </p:sp>
      <p:sp>
        <p:nvSpPr>
          <p:cNvPr id="48" name="Text 46"/>
          <p:cNvSpPr/>
          <p:nvPr/>
        </p:nvSpPr>
        <p:spPr>
          <a:xfrm>
            <a:off x="7415784" y="3364992"/>
            <a:ext cx="1280160" cy="274320"/>
          </a:xfrm>
          <a:prstGeom prst="rect">
            <a:avLst/>
          </a:prstGeom>
          <a:noFill/>
          <a:ln/>
        </p:spPr>
        <p:txBody>
          <a:bodyPr wrap="square" lIns="0" tIns="0" rIns="0" bIns="0" rtlCol="0" anchor="ctr"/>
          <a:lstStyle/>
          <a:p>
            <a:pPr indent="0" marL="0">
              <a:buNone/>
            </a:pPr>
            <a:r>
              <a:rPr lang="en-US" sz="950" b="1" dirty="0">
                <a:solidFill>
                  <a:srgbClr val="0E7C7B"/>
                </a:solidFill>
                <a:latin typeface="Calibri" pitchFamily="34" charset="0"/>
                <a:ea typeface="Calibri" pitchFamily="34" charset="-122"/>
                <a:cs typeface="Calibri" pitchFamily="34" charset="-120"/>
              </a:rPr>
              <a:t>[ fill ]</a:t>
            </a:r>
            <a:endParaRPr lang="en-US" sz="950" dirty="0"/>
          </a:p>
        </p:txBody>
      </p:sp>
      <p:sp>
        <p:nvSpPr>
          <p:cNvPr id="49" name="Shape 47"/>
          <p:cNvSpPr/>
          <p:nvPr/>
        </p:nvSpPr>
        <p:spPr>
          <a:xfrm>
            <a:off x="274320" y="4160520"/>
            <a:ext cx="8595360" cy="777240"/>
          </a:xfrm>
          <a:prstGeom prst="rect">
            <a:avLst/>
          </a:prstGeom>
          <a:solidFill>
            <a:srgbClr val="1E3A4C"/>
          </a:solidFill>
          <a:ln w="12700">
            <a:solidFill>
              <a:srgbClr val="0E7C7B"/>
            </a:solidFill>
            <a:prstDash val="solid"/>
          </a:ln>
        </p:spPr>
      </p:sp>
      <p:sp>
        <p:nvSpPr>
          <p:cNvPr id="50" name="Text 48"/>
          <p:cNvSpPr/>
          <p:nvPr/>
        </p:nvSpPr>
        <p:spPr>
          <a:xfrm>
            <a:off x="457200" y="4206240"/>
            <a:ext cx="2743200" cy="27432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  Total Training: ~30 hours</a:t>
            </a:r>
            <a:endParaRPr lang="en-US" sz="1200" dirty="0"/>
          </a:p>
        </p:txBody>
      </p:sp>
      <p:sp>
        <p:nvSpPr>
          <p:cNvPr id="51" name="Text 49"/>
          <p:cNvSpPr/>
          <p:nvPr/>
        </p:nvSpPr>
        <p:spPr>
          <a:xfrm>
            <a:off x="365760" y="4526280"/>
            <a:ext cx="20116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Phase 3 scratch: ~8h</a:t>
            </a:r>
            <a:endParaRPr lang="en-US" sz="950" dirty="0"/>
          </a:p>
        </p:txBody>
      </p:sp>
      <p:sp>
        <p:nvSpPr>
          <p:cNvPr id="52" name="Text 50"/>
          <p:cNvSpPr/>
          <p:nvPr/>
        </p:nvSpPr>
        <p:spPr>
          <a:xfrm>
            <a:off x="2542032" y="4526280"/>
            <a:ext cx="20116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HPO (20 trials): ~12h</a:t>
            </a:r>
            <a:endParaRPr lang="en-US" sz="950" dirty="0"/>
          </a:p>
        </p:txBody>
      </p:sp>
      <p:sp>
        <p:nvSpPr>
          <p:cNvPr id="53" name="Text 51"/>
          <p:cNvSpPr/>
          <p:nvPr/>
        </p:nvSpPr>
        <p:spPr>
          <a:xfrm>
            <a:off x="4718304" y="4526280"/>
            <a:ext cx="20116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Config C final: ~6h</a:t>
            </a:r>
            <a:endParaRPr lang="en-US" sz="950" dirty="0"/>
          </a:p>
        </p:txBody>
      </p:sp>
      <p:sp>
        <p:nvSpPr>
          <p:cNvPr id="54" name="Text 52"/>
          <p:cNvSpPr/>
          <p:nvPr/>
        </p:nvSpPr>
        <p:spPr>
          <a:xfrm>
            <a:off x="6894576" y="4526280"/>
            <a:ext cx="20116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Fine-tune v1+v2: ~4h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457200" y="201168"/>
            <a:ext cx="8229600" cy="292608"/>
          </a:xfrm>
          <a:prstGeom prst="rect">
            <a:avLst/>
          </a:prstGeom>
          <a:noFill/>
          <a:ln/>
        </p:spPr>
        <p:txBody>
          <a:bodyPr wrap="square" lIns="0" tIns="0" rIns="0" bIns="0" rtlCol="0" anchor="ctr"/>
          <a:lstStyle/>
          <a:p>
            <a:pPr indent="0" marL="0">
              <a:buNone/>
            </a:pPr>
            <a:r>
              <a:rPr lang="en-US" sz="1000" b="1" spc="200" kern="0" dirty="0">
                <a:solidFill>
                  <a:srgbClr val="0E7C7B"/>
                </a:solidFill>
                <a:latin typeface="Calibri" pitchFamily="34" charset="0"/>
                <a:ea typeface="Calibri" pitchFamily="34" charset="-122"/>
                <a:cs typeface="Calibri" pitchFamily="34" charset="-120"/>
              </a:rPr>
              <a:t>06  —  COMPARISON WITH PUBLISHED WORK</a:t>
            </a:r>
            <a:endParaRPr lang="en-US" sz="1000" dirty="0"/>
          </a:p>
        </p:txBody>
      </p:sp>
      <p:sp>
        <p:nvSpPr>
          <p:cNvPr id="3" name="Text 1"/>
          <p:cNvSpPr/>
          <p:nvPr/>
        </p:nvSpPr>
        <p:spPr>
          <a:xfrm>
            <a:off x="457200" y="502920"/>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Honest Benchmarking</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914400"/>
        </p:xfrm>
        <a:graphic>
          <a:graphicData uri="http://schemas.openxmlformats.org/drawingml/2006/table">
            <a:tbl>
              <a:tblPr/>
              <a:tblGrid>
                <a:gridCol w="2743200"/>
                <a:gridCol w="731520"/>
                <a:gridCol w="822960"/>
                <a:gridCol w="822960"/>
                <a:gridCol w="3474720"/>
              </a:tblGrid>
              <a:tr h="347472">
                <a:tc>
                  <a:txBody>
                    <a:bodyPr/>
                    <a:lstStyle/>
                    <a:p>
                      <a:pPr indent="0" marL="0">
                        <a:buNone/>
                      </a:pPr>
                      <a:r>
                        <a:rPr lang="en-US" sz="1000" b="1" dirty="0">
                          <a:solidFill>
                            <a:srgbClr val="FFFFFF"/>
                          </a:solidFill>
                        </a:rPr>
                        <a:t>Method</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L1</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LPIPS</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SSIM</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Dataset / Conditions</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0D1B2A"/>
                    </a:solidFill>
                  </a:tcPr>
                </a:tc>
              </a:tr>
              <a:tr h="347472">
                <a:tc>
                  <a:txBody>
                    <a:bodyPr/>
                    <a:lstStyle/>
                    <a:p>
                      <a:pPr indent="0" marL="0">
                        <a:buNone/>
                      </a:pPr>
                      <a:r>
                        <a:rPr lang="en-US" sz="1000" b="1" dirty="0">
                          <a:solidFill>
                            <a:srgbClr val="000000"/>
                          </a:solidFill>
                        </a:rPr>
                        <a:t>Phase 4 ResNet — this work</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c>
                  <a:txBody>
                    <a:bodyPr/>
                    <a:lstStyle/>
                    <a:p>
                      <a:pPr indent="0" marL="0">
                        <a:buNone/>
                      </a:pPr>
                      <a:r>
                        <a:rPr lang="en-US" sz="1000" dirty="0">
                          <a:solidFill>
                            <a:srgbClr val="000000"/>
                          </a:solidFill>
                        </a:rPr>
                        <a:t>0.296</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c>
                  <a:txBody>
                    <a:bodyPr/>
                    <a:lstStyle/>
                    <a:p>
                      <a:pPr indent="0" marL="0">
                        <a:buNone/>
                      </a:pPr>
                      <a:r>
                        <a:rPr lang="en-US" sz="1000" dirty="0">
                          <a:solidFill>
                            <a:srgbClr val="000000"/>
                          </a:solidFill>
                        </a:rPr>
                        <a:t>0.677</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c>
                  <a:txBody>
                    <a:bodyPr/>
                    <a:lstStyle/>
                    <a:p>
                      <a:pPr indent="0" marL="0">
                        <a:buNone/>
                      </a:pPr>
                      <a:r>
                        <a:rPr lang="en-US" sz="1000" dirty="0">
                          <a:solidFill>
                            <a:srgbClr val="000000"/>
                          </a:solidFill>
                        </a:rPr>
                        <a:t>0.351</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c>
                  <a:txBody>
                    <a:bodyPr/>
                    <a:lstStyle/>
                    <a:p>
                      <a:pPr indent="0" marL="0">
                        <a:buNone/>
                      </a:pPr>
                      <a:r>
                        <a:rPr lang="en-US" sz="1000" dirty="0">
                          <a:solidFill>
                            <a:srgbClr val="000000"/>
                          </a:solidFill>
                        </a:rPr>
                        <a:t>CelebA 25k, 256px, edge maps</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DFF2F2"/>
                    </a:solidFill>
                  </a:tcPr>
                </a:tc>
              </a:tr>
              <a:tr h="347472">
                <a:tc>
                  <a:txBody>
                    <a:bodyPr/>
                    <a:lstStyle/>
                    <a:p>
                      <a:pPr indent="0" marL="0">
                        <a:buNone/>
                      </a:pPr>
                      <a:r>
                        <a:rPr lang="en-US" sz="1000" dirty="0">
                          <a:solidFill>
                            <a:srgbClr val="000000"/>
                          </a:solidFill>
                        </a:rPr>
                        <a:t>Phase 3 scratch — this work</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0.237</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0.723</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0.392</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CelebA 25k, 256px, edge maps</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64748B"/>
                          </a:solidFill>
                        </a:rPr>
                        <a:t>Pix2Pix (Isola 2017) †</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1000" dirty="0">
                          <a:solidFill>
                            <a:srgbClr val="64748B"/>
                          </a:solidFill>
                        </a:rPr>
                        <a:t>—</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1000" dirty="0">
                          <a:solidFill>
                            <a:srgbClr val="64748B"/>
                          </a:solidFill>
                        </a:rPr>
                        <a:t>0.474</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1000" dirty="0">
                          <a:solidFill>
                            <a:srgbClr val="64748B"/>
                          </a:solidFill>
                        </a:rPr>
                        <a:t>0.890</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1000" dirty="0">
                          <a:solidFill>
                            <a:srgbClr val="64748B"/>
                          </a:solidFill>
                        </a:rPr>
                        <a:t>FS2K — hand-drawn sketches</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r>
              <a:tr h="347472">
                <a:tc>
                  <a:txBody>
                    <a:bodyPr/>
                    <a:lstStyle/>
                    <a:p>
                      <a:pPr indent="0" marL="0">
                        <a:buNone/>
                      </a:pPr>
                      <a:r>
                        <a:rPr lang="en-US" sz="1000" dirty="0">
                          <a:solidFill>
                            <a:srgbClr val="64748B"/>
                          </a:solidFill>
                        </a:rPr>
                        <a:t>Pix2PixHD (Wang 2018) †</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0.456</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0.871</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FS2K — hand-drawn sketches</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64748B"/>
                          </a:solidFill>
                        </a:rPr>
                        <a:t>CycleGAN (Zhu 2017) †</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1000" dirty="0">
                          <a:solidFill>
                            <a:srgbClr val="64748B"/>
                          </a:solidFill>
                        </a:rPr>
                        <a:t>—</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1000" dirty="0">
                          <a:solidFill>
                            <a:srgbClr val="64748B"/>
                          </a:solidFill>
                        </a:rPr>
                        <a:t>0.477</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1000" dirty="0">
                          <a:solidFill>
                            <a:srgbClr val="64748B"/>
                          </a:solidFill>
                        </a:rPr>
                        <a:t>0.833</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c>
                  <a:txBody>
                    <a:bodyPr/>
                    <a:lstStyle/>
                    <a:p>
                      <a:pPr indent="0" marL="0">
                        <a:buNone/>
                      </a:pPr>
                      <a:r>
                        <a:rPr lang="en-US" sz="1000" dirty="0">
                          <a:solidFill>
                            <a:srgbClr val="64748B"/>
                          </a:solidFill>
                        </a:rPr>
                        <a:t>FS2K — hand-drawn sketches</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EEF4F7"/>
                    </a:solidFill>
                  </a:tcPr>
                </a:tc>
              </a:tr>
              <a:tr h="347472">
                <a:tc>
                  <a:txBody>
                    <a:bodyPr/>
                    <a:lstStyle/>
                    <a:p>
                      <a:pPr indent="0" marL="0">
                        <a:buNone/>
                      </a:pPr>
                      <a:r>
                        <a:rPr lang="en-US" sz="1000" dirty="0">
                          <a:solidFill>
                            <a:srgbClr val="64748B"/>
                          </a:solidFill>
                        </a:rPr>
                        <a:t>pSp paper (Richardson 2021) ‡</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0.180</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c>
                  <a:txBody>
                    <a:bodyPr/>
                    <a:lstStyle/>
                    <a:p>
                      <a:pPr indent="0" marL="0">
                        <a:buNone/>
                      </a:pPr>
                      <a:r>
                        <a:rPr lang="en-US" sz="1000" dirty="0">
                          <a:solidFill>
                            <a:srgbClr val="64748B"/>
                          </a:solidFill>
                        </a:rPr>
                        <a:t>FFHQ 1024px — different task</a:t>
                      </a:r>
                      <a:endParaRPr lang="en-US" sz="1000" dirty="0"/>
                    </a:p>
                  </a:txBody>
                  <a:tcPr marL="91440" marR="91440" marT="45720" marB="45720">
                    <a:lnL w="6350" cap="flat" cmpd="sng" algn="ctr">
                      <a:solidFill>
                        <a:srgbClr val="D0DDE5"/>
                      </a:solidFill>
                      <a:prstDash val="solid"/>
                      <a:round/>
                      <a:headEnd type="none" w="med" len="med"/>
                      <a:tailEnd type="none" w="med" len="med"/>
                    </a:lnL>
                    <a:lnR w="6350" cap="flat" cmpd="sng" algn="ctr">
                      <a:solidFill>
                        <a:srgbClr val="D0DDE5"/>
                      </a:solidFill>
                      <a:prstDash val="solid"/>
                      <a:round/>
                      <a:headEnd type="none" w="med" len="med"/>
                      <a:tailEnd type="none" w="med" len="med"/>
                    </a:lnR>
                    <a:lnT w="6350" cap="flat" cmpd="sng" algn="ctr">
                      <a:solidFill>
                        <a:srgbClr val="D0DDE5"/>
                      </a:solidFill>
                      <a:prstDash val="solid"/>
                      <a:round/>
                      <a:headEnd type="none" w="med" len="med"/>
                      <a:tailEnd type="none" w="med" len="med"/>
                    </a:lnT>
                    <a:lnB w="6350" cap="flat" cmpd="sng" algn="ctr">
                      <a:solidFill>
                        <a:srgbClr val="D0DDE5"/>
                      </a:solidFill>
                      <a:prstDash val="solid"/>
                      <a:round/>
                      <a:headEnd type="none" w="med" len="med"/>
                      <a:tailEnd type="none" w="med" len="med"/>
                    </a:lnB>
                    <a:solidFill>
                      <a:srgbClr val="FFFFFF"/>
                    </a:solidFill>
                  </a:tcPr>
                </a:tc>
              </a:tr>
            </a:tbl>
          </a:graphicData>
        </a:graphic>
      </p:graphicFrame>
      <p:sp>
        <p:nvSpPr>
          <p:cNvPr id="5" name="Text 2"/>
          <p:cNvSpPr/>
          <p:nvPr/>
        </p:nvSpPr>
        <p:spPr>
          <a:xfrm>
            <a:off x="274320" y="3977640"/>
            <a:ext cx="8595360" cy="347472"/>
          </a:xfrm>
          <a:prstGeom prst="rect">
            <a:avLst/>
          </a:prstGeom>
          <a:noFill/>
          <a:ln/>
        </p:spPr>
        <p:txBody>
          <a:bodyPr wrap="square" lIns="0" tIns="0" rIns="0" bIns="0" rtlCol="0" anchor="ctr"/>
          <a:lstStyle/>
          <a:p>
            <a:pPr indent="0" marL="0">
              <a:buNone/>
            </a:pPr>
            <a:r>
              <a:rPr lang="en-US" sz="1000" dirty="0">
                <a:solidFill>
                  <a:srgbClr val="1A2533"/>
                </a:solidFill>
                <a:latin typeface="Calibri" pitchFamily="34" charset="0"/>
                <a:ea typeface="Calibri" pitchFamily="34" charset="-122"/>
                <a:cs typeface="Calibri" pitchFamily="34" charset="-120"/>
              </a:rPr>
              <a:t>⚠️  Our LPIPS (0.677) vs published (0.456–0.477) — but FS2K has rich artistic sketches, ours are sparse edge maps. Not a fair comparison.</a:t>
            </a:r>
            <a:endParaRPr lang="en-US" sz="1000" dirty="0"/>
          </a:p>
        </p:txBody>
      </p:sp>
      <p:sp>
        <p:nvSpPr>
          <p:cNvPr id="6" name="Text 3"/>
          <p:cNvSpPr/>
          <p:nvPr/>
        </p:nvSpPr>
        <p:spPr>
          <a:xfrm>
            <a:off x="274320" y="4361688"/>
            <a:ext cx="8595360" cy="347472"/>
          </a:xfrm>
          <a:prstGeom prst="rect">
            <a:avLst/>
          </a:prstGeom>
          <a:noFill/>
          <a:ln/>
        </p:spPr>
        <p:txBody>
          <a:bodyPr wrap="square" lIns="0" tIns="0" rIns="0" bIns="0" rtlCol="0" anchor="ctr"/>
          <a:lstStyle/>
          <a:p>
            <a:pPr indent="0" marL="0">
              <a:buNone/>
            </a:pPr>
            <a:r>
              <a:rPr lang="en-US" sz="1000" dirty="0">
                <a:solidFill>
                  <a:srgbClr val="1A2533"/>
                </a:solidFill>
                <a:latin typeface="Calibri" pitchFamily="34" charset="0"/>
                <a:ea typeface="Calibri" pitchFamily="34" charset="-122"/>
                <a:cs typeface="Calibri" pitchFamily="34" charset="-120"/>
              </a:rPr>
              <a:t>⚠️  pSp paper's 0.180 LPIPS is at 1024px on FFHQ with photographic inputs — fundamentally easier than our task.</a:t>
            </a:r>
            <a:endParaRPr lang="en-US" sz="1000" dirty="0"/>
          </a:p>
        </p:txBody>
      </p:sp>
      <p:sp>
        <p:nvSpPr>
          <p:cNvPr id="7" name="Text 4"/>
          <p:cNvSpPr/>
          <p:nvPr/>
        </p:nvSpPr>
        <p:spPr>
          <a:xfrm>
            <a:off x="274320" y="4745736"/>
            <a:ext cx="8595360" cy="347472"/>
          </a:xfrm>
          <a:prstGeom prst="rect">
            <a:avLst/>
          </a:prstGeom>
          <a:noFill/>
          <a:ln/>
        </p:spPr>
        <p:txBody>
          <a:bodyPr wrap="square" lIns="0" tIns="0" rIns="0" bIns="0" rtlCol="0" anchor="ctr"/>
          <a:lstStyle/>
          <a:p>
            <a:pPr indent="0" marL="0">
              <a:buNone/>
            </a:pPr>
            <a:r>
              <a:rPr lang="en-US" sz="1000" dirty="0">
                <a:solidFill>
                  <a:srgbClr val="1A2533"/>
                </a:solidFill>
                <a:latin typeface="Calibri" pitchFamily="34" charset="0"/>
                <a:ea typeface="Calibri" pitchFamily="34" charset="-122"/>
                <a:cs typeface="Calibri" pitchFamily="34" charset="-120"/>
              </a:rPr>
              <a:t>✅  No published work evaluates on CelebA + edge maps at 256px. Our Phase 4 vs Phase 3 improvement (19.3% L1) is the valid internal comparison.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292608"/>
          </a:xfrm>
          <a:prstGeom prst="rect">
            <a:avLst/>
          </a:prstGeom>
          <a:noFill/>
          <a:ln/>
        </p:spPr>
        <p:txBody>
          <a:bodyPr wrap="square" lIns="0" tIns="0" rIns="0" bIns="0" rtlCol="0" anchor="ctr"/>
          <a:lstStyle/>
          <a:p>
            <a:pPr indent="0" marL="0">
              <a:buNone/>
            </a:pPr>
            <a:r>
              <a:rPr lang="en-US" sz="1000" b="1" spc="200" kern="0" dirty="0">
                <a:solidFill>
                  <a:srgbClr val="14A8A6"/>
                </a:solidFill>
                <a:latin typeface="Calibri" pitchFamily="34" charset="0"/>
                <a:ea typeface="Calibri" pitchFamily="34" charset="-122"/>
                <a:cs typeface="Calibri" pitchFamily="34" charset="-120"/>
              </a:rPr>
              <a:t>07  —  STATISTICAL REPORTING</a:t>
            </a:r>
            <a:endParaRPr lang="en-US" sz="1000" dirty="0"/>
          </a:p>
        </p:txBody>
      </p:sp>
      <p:sp>
        <p:nvSpPr>
          <p:cNvPr id="3" name="Text 1"/>
          <p:cNvSpPr/>
          <p:nvPr/>
        </p:nvSpPr>
        <p:spPr>
          <a:xfrm>
            <a:off x="457200" y="502920"/>
            <a:ext cx="8229600" cy="47548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Is the Improvement Real?</a:t>
            </a:r>
            <a:endParaRPr lang="en-US" sz="2800" dirty="0"/>
          </a:p>
        </p:txBody>
      </p:sp>
      <p:sp>
        <p:nvSpPr>
          <p:cNvPr id="4" name="Shape 2"/>
          <p:cNvSpPr/>
          <p:nvPr/>
        </p:nvSpPr>
        <p:spPr>
          <a:xfrm>
            <a:off x="274320" y="1143000"/>
            <a:ext cx="2743200" cy="1920240"/>
          </a:xfrm>
          <a:prstGeom prst="rect">
            <a:avLst/>
          </a:prstGeom>
          <a:solidFill>
            <a:srgbClr val="1E3A4C"/>
          </a:solidFill>
          <a:ln w="12700">
            <a:solidFill>
              <a:srgbClr val="0E7C7B"/>
            </a:solidFill>
            <a:prstDash val="solid"/>
          </a:ln>
        </p:spPr>
      </p:sp>
      <p:sp>
        <p:nvSpPr>
          <p:cNvPr id="5" name="Text 3"/>
          <p:cNvSpPr/>
          <p:nvPr/>
        </p:nvSpPr>
        <p:spPr>
          <a:xfrm>
            <a:off x="411480" y="1234440"/>
            <a:ext cx="246888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Bootstrap 95% CI</a:t>
            </a:r>
            <a:endParaRPr lang="en-US" sz="1100" dirty="0"/>
          </a:p>
        </p:txBody>
      </p:sp>
      <p:sp>
        <p:nvSpPr>
          <p:cNvPr id="6" name="Text 4"/>
          <p:cNvSpPr/>
          <p:nvPr/>
        </p:nvSpPr>
        <p:spPr>
          <a:xfrm>
            <a:off x="411480" y="1572768"/>
            <a:ext cx="24688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[0.2934, 0.2986]</a:t>
            </a:r>
            <a:endParaRPr lang="en-US" sz="2400" dirty="0"/>
          </a:p>
        </p:txBody>
      </p:sp>
      <p:sp>
        <p:nvSpPr>
          <p:cNvPr id="7" name="Text 5"/>
          <p:cNvSpPr/>
          <p:nvPr/>
        </p:nvSpPr>
        <p:spPr>
          <a:xfrm>
            <a:off x="411480" y="2103120"/>
            <a:ext cx="2468880" cy="7315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Phase 4 L1 — 1,000 resamples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Narrow CI → stable estimate</a:t>
            </a:r>
            <a:endParaRPr lang="en-US" sz="1000" dirty="0"/>
          </a:p>
        </p:txBody>
      </p:sp>
      <p:sp>
        <p:nvSpPr>
          <p:cNvPr id="8" name="Shape 6"/>
          <p:cNvSpPr/>
          <p:nvPr/>
        </p:nvSpPr>
        <p:spPr>
          <a:xfrm>
            <a:off x="3182112" y="1143000"/>
            <a:ext cx="2743200" cy="1920240"/>
          </a:xfrm>
          <a:prstGeom prst="rect">
            <a:avLst/>
          </a:prstGeom>
          <a:solidFill>
            <a:srgbClr val="1E3A4C"/>
          </a:solidFill>
          <a:ln w="12700">
            <a:solidFill>
              <a:srgbClr val="14A8A6"/>
            </a:solidFill>
            <a:prstDash val="solid"/>
          </a:ln>
        </p:spPr>
      </p:sp>
      <p:sp>
        <p:nvSpPr>
          <p:cNvPr id="9" name="Text 7"/>
          <p:cNvSpPr/>
          <p:nvPr/>
        </p:nvSpPr>
        <p:spPr>
          <a:xfrm>
            <a:off x="3319272" y="1234440"/>
            <a:ext cx="2468880" cy="274320"/>
          </a:xfrm>
          <a:prstGeom prst="rect">
            <a:avLst/>
          </a:prstGeom>
          <a:noFill/>
          <a:ln/>
        </p:spPr>
        <p:txBody>
          <a:bodyPr wrap="square" lIns="0" tIns="0" rIns="0" bIns="0" rtlCol="0" anchor="ctr"/>
          <a:lstStyle/>
          <a:p>
            <a:pPr indent="0" marL="0">
              <a:buNone/>
            </a:pPr>
            <a:r>
              <a:rPr lang="en-US" sz="1100" b="1" dirty="0">
                <a:solidFill>
                  <a:srgbClr val="14A8A6"/>
                </a:solidFill>
                <a:latin typeface="Calibri" pitchFamily="34" charset="0"/>
                <a:ea typeface="Calibri" pitchFamily="34" charset="-122"/>
                <a:cs typeface="Calibri" pitchFamily="34" charset="-120"/>
              </a:rPr>
              <a:t>Paired t-test</a:t>
            </a:r>
            <a:endParaRPr lang="en-US" sz="1100" dirty="0"/>
          </a:p>
        </p:txBody>
      </p:sp>
      <p:sp>
        <p:nvSpPr>
          <p:cNvPr id="10" name="Text 8"/>
          <p:cNvSpPr/>
          <p:nvPr/>
        </p:nvSpPr>
        <p:spPr>
          <a:xfrm>
            <a:off x="3319272" y="1572768"/>
            <a:ext cx="24688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 = 35.942</a:t>
            </a:r>
            <a:endParaRPr lang="en-US" sz="2400" dirty="0"/>
          </a:p>
        </p:txBody>
      </p:sp>
      <p:sp>
        <p:nvSpPr>
          <p:cNvPr id="11" name="Text 9"/>
          <p:cNvSpPr/>
          <p:nvPr/>
        </p:nvSpPr>
        <p:spPr>
          <a:xfrm>
            <a:off x="3319272" y="2103120"/>
            <a:ext cx="2468880" cy="7315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 = 0.0000</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Phase 4 vs Phase 3 (n=2,500)</a:t>
            </a:r>
            <a:endParaRPr lang="en-US" sz="1000" dirty="0"/>
          </a:p>
        </p:txBody>
      </p:sp>
      <p:sp>
        <p:nvSpPr>
          <p:cNvPr id="12" name="Shape 10"/>
          <p:cNvSpPr/>
          <p:nvPr/>
        </p:nvSpPr>
        <p:spPr>
          <a:xfrm>
            <a:off x="6089904" y="1143000"/>
            <a:ext cx="2743200" cy="1920240"/>
          </a:xfrm>
          <a:prstGeom prst="rect">
            <a:avLst/>
          </a:prstGeom>
          <a:solidFill>
            <a:srgbClr val="1E3A4C"/>
          </a:solidFill>
          <a:ln w="12700">
            <a:solidFill>
              <a:srgbClr val="F5A623"/>
            </a:solidFill>
            <a:prstDash val="solid"/>
          </a:ln>
        </p:spPr>
      </p:sp>
      <p:sp>
        <p:nvSpPr>
          <p:cNvPr id="13" name="Text 11"/>
          <p:cNvSpPr/>
          <p:nvPr/>
        </p:nvSpPr>
        <p:spPr>
          <a:xfrm>
            <a:off x="6227064" y="1234440"/>
            <a:ext cx="2468880" cy="274320"/>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Cohen's d</a:t>
            </a:r>
            <a:endParaRPr lang="en-US" sz="1100" dirty="0"/>
          </a:p>
        </p:txBody>
      </p:sp>
      <p:sp>
        <p:nvSpPr>
          <p:cNvPr id="14" name="Text 12"/>
          <p:cNvSpPr/>
          <p:nvPr/>
        </p:nvSpPr>
        <p:spPr>
          <a:xfrm>
            <a:off x="6227064" y="1572768"/>
            <a:ext cx="24688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0.7190</a:t>
            </a:r>
            <a:endParaRPr lang="en-US" sz="2400" dirty="0"/>
          </a:p>
        </p:txBody>
      </p:sp>
      <p:sp>
        <p:nvSpPr>
          <p:cNvPr id="15" name="Text 13"/>
          <p:cNvSpPr/>
          <p:nvPr/>
        </p:nvSpPr>
        <p:spPr>
          <a:xfrm>
            <a:off x="6227064" y="2103120"/>
            <a:ext cx="2468880" cy="7315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Large effect size (&gt;0.5)</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20.2% increase vs pretrained pSp</a:t>
            </a:r>
            <a:endParaRPr lang="en-US" sz="1000" dirty="0"/>
          </a:p>
        </p:txBody>
      </p:sp>
      <p:sp>
        <p:nvSpPr>
          <p:cNvPr id="16" name="Shape 14"/>
          <p:cNvSpPr/>
          <p:nvPr/>
        </p:nvSpPr>
        <p:spPr>
          <a:xfrm>
            <a:off x="274320" y="3154680"/>
            <a:ext cx="8595360" cy="777240"/>
          </a:xfrm>
          <a:prstGeom prst="rect">
            <a:avLst/>
          </a:prstGeom>
          <a:solidFill>
            <a:srgbClr val="1E3A4C"/>
          </a:solidFill>
          <a:ln w="12700">
            <a:solidFill>
              <a:srgbClr val="F5A623"/>
            </a:solidFill>
            <a:prstDash val="solid"/>
          </a:ln>
        </p:spPr>
      </p:sp>
      <p:sp>
        <p:nvSpPr>
          <p:cNvPr id="17" name="Text 15"/>
          <p:cNvSpPr/>
          <p:nvPr/>
        </p:nvSpPr>
        <p:spPr>
          <a:xfrm>
            <a:off x="457200" y="3218688"/>
            <a:ext cx="1828800" cy="274320"/>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  Important Caveat</a:t>
            </a:r>
            <a:endParaRPr lang="en-US" sz="1100" dirty="0"/>
          </a:p>
        </p:txBody>
      </p:sp>
      <p:sp>
        <p:nvSpPr>
          <p:cNvPr id="18" name="Text 16"/>
          <p:cNvSpPr/>
          <p:nvPr/>
        </p:nvSpPr>
        <p:spPr>
          <a:xfrm>
            <a:off x="457200" y="3502152"/>
            <a:ext cx="8229600" cy="34747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The t-test compares Phase 4 against the 'phase3' cache key — which maps to the OFFICIAL PRETRAINED pSp, not scratch training. So t=35.942 means Phase 4 is significantly worse than the pretrained baseline. This is expected and honest.</a:t>
            </a:r>
            <a:endParaRPr lang="en-US" sz="950" dirty="0"/>
          </a:p>
        </p:txBody>
      </p:sp>
      <p:sp>
        <p:nvSpPr>
          <p:cNvPr id="19" name="Shape 17"/>
          <p:cNvSpPr/>
          <p:nvPr/>
        </p:nvSpPr>
        <p:spPr>
          <a:xfrm>
            <a:off x="274320" y="4023360"/>
            <a:ext cx="8595360" cy="822960"/>
          </a:xfrm>
          <a:prstGeom prst="rect">
            <a:avLst/>
          </a:prstGeom>
          <a:solidFill>
            <a:srgbClr val="1E3A4C"/>
          </a:solidFill>
          <a:ln w="12700">
            <a:solidFill>
              <a:srgbClr val="0E7C7B"/>
            </a:solidFill>
            <a:prstDash val="solid"/>
          </a:ln>
        </p:spPr>
      </p:sp>
      <p:sp>
        <p:nvSpPr>
          <p:cNvPr id="20" name="Text 18"/>
          <p:cNvSpPr/>
          <p:nvPr/>
        </p:nvSpPr>
        <p:spPr>
          <a:xfrm>
            <a:off x="457200" y="4096512"/>
            <a:ext cx="2743200" cy="25603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Seed Variance</a:t>
            </a:r>
            <a:endParaRPr lang="en-US" sz="1100" dirty="0"/>
          </a:p>
        </p:txBody>
      </p:sp>
      <p:sp>
        <p:nvSpPr>
          <p:cNvPr id="21" name="Text 19"/>
          <p:cNvSpPr/>
          <p:nvPr/>
        </p:nvSpPr>
        <p:spPr>
          <a:xfrm>
            <a:off x="457200" y="4361688"/>
            <a:ext cx="822960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Three-seed eval of official pSp (seeds 42, 123, 999) → std ≈ 0.000. Inference is fully deterministic. Reported std values reflect genuine test-set difficulty variance, not model stochasticity.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457200" y="201168"/>
            <a:ext cx="8229600" cy="292608"/>
          </a:xfrm>
          <a:prstGeom prst="rect">
            <a:avLst/>
          </a:prstGeom>
          <a:noFill/>
          <a:ln/>
        </p:spPr>
        <p:txBody>
          <a:bodyPr wrap="square" lIns="0" tIns="0" rIns="0" bIns="0" rtlCol="0" anchor="ctr"/>
          <a:lstStyle/>
          <a:p>
            <a:pPr indent="0" marL="0">
              <a:buNone/>
            </a:pPr>
            <a:r>
              <a:rPr lang="en-US" sz="1000" b="1" spc="200" kern="0" dirty="0">
                <a:solidFill>
                  <a:srgbClr val="0E7C7B"/>
                </a:solidFill>
                <a:latin typeface="Calibri" pitchFamily="34" charset="0"/>
                <a:ea typeface="Calibri" pitchFamily="34" charset="-122"/>
                <a:cs typeface="Calibri" pitchFamily="34" charset="-120"/>
              </a:rPr>
              <a:t>07  —  LIMITATIONS</a:t>
            </a:r>
            <a:endParaRPr lang="en-US" sz="1000" dirty="0"/>
          </a:p>
        </p:txBody>
      </p:sp>
      <p:sp>
        <p:nvSpPr>
          <p:cNvPr id="3" name="Text 1"/>
          <p:cNvSpPr/>
          <p:nvPr/>
        </p:nvSpPr>
        <p:spPr>
          <a:xfrm>
            <a:off x="457200" y="502920"/>
            <a:ext cx="8229600" cy="475488"/>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8 Honest, Evidence-Based Limitations</a:t>
            </a:r>
            <a:endParaRPr lang="en-US" sz="2600" dirty="0"/>
          </a:p>
        </p:txBody>
      </p:sp>
      <p:sp>
        <p:nvSpPr>
          <p:cNvPr id="4" name="Shape 2"/>
          <p:cNvSpPr/>
          <p:nvPr/>
        </p:nvSpPr>
        <p:spPr>
          <a:xfrm>
            <a:off x="274320" y="1078992"/>
            <a:ext cx="2011680" cy="150876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1078992"/>
            <a:ext cx="347472" cy="347472"/>
          </a:xfrm>
          <a:prstGeom prst="rect">
            <a:avLst/>
          </a:prstGeom>
          <a:solidFill>
            <a:srgbClr val="0E7C7B"/>
          </a:solidFill>
          <a:ln w="12700">
            <a:solidFill>
              <a:srgbClr val="0E7C7B"/>
            </a:solidFill>
            <a:prstDash val="solid"/>
          </a:ln>
        </p:spPr>
      </p:sp>
      <p:sp>
        <p:nvSpPr>
          <p:cNvPr id="6" name="Text 4"/>
          <p:cNvSpPr/>
          <p:nvPr/>
        </p:nvSpPr>
        <p:spPr>
          <a:xfrm>
            <a:off x="274320" y="10789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365760" y="1481328"/>
            <a:ext cx="1828800" cy="32004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Narrow Dataset</a:t>
            </a:r>
            <a:endParaRPr lang="en-US" sz="1100" dirty="0"/>
          </a:p>
        </p:txBody>
      </p:sp>
      <p:sp>
        <p:nvSpPr>
          <p:cNvPr id="8" name="Text 6"/>
          <p:cNvSpPr/>
          <p:nvPr/>
        </p:nvSpPr>
        <p:spPr>
          <a:xfrm>
            <a:off x="365760" y="1828800"/>
            <a:ext cx="182880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25k celeb photos, light-skinned, frontal, studio-lit</a:t>
            </a:r>
            <a:endParaRPr lang="en-US" sz="950" dirty="0"/>
          </a:p>
        </p:txBody>
      </p:sp>
      <p:sp>
        <p:nvSpPr>
          <p:cNvPr id="9" name="Shape 7"/>
          <p:cNvSpPr/>
          <p:nvPr/>
        </p:nvSpPr>
        <p:spPr>
          <a:xfrm>
            <a:off x="2441448" y="1078992"/>
            <a:ext cx="2011680" cy="1508760"/>
          </a:xfrm>
          <a:prstGeom prst="rect">
            <a:avLst/>
          </a:prstGeom>
          <a:solidFill>
            <a:srgbClr val="FFFFFF"/>
          </a:solidFill>
          <a:ln w="12700">
            <a:solidFill>
              <a:srgbClr val="E84855"/>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2441448" y="1078992"/>
            <a:ext cx="347472" cy="347472"/>
          </a:xfrm>
          <a:prstGeom prst="rect">
            <a:avLst/>
          </a:prstGeom>
          <a:solidFill>
            <a:srgbClr val="E84855"/>
          </a:solidFill>
          <a:ln w="12700">
            <a:solidFill>
              <a:srgbClr val="E84855"/>
            </a:solidFill>
            <a:prstDash val="solid"/>
          </a:ln>
        </p:spPr>
      </p:sp>
      <p:sp>
        <p:nvSpPr>
          <p:cNvPr id="11" name="Text 9"/>
          <p:cNvSpPr/>
          <p:nvPr/>
        </p:nvSpPr>
        <p:spPr>
          <a:xfrm>
            <a:off x="2441448" y="10789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2532888" y="1481328"/>
            <a:ext cx="1828800" cy="32004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Fake Sketches</a:t>
            </a:r>
            <a:endParaRPr lang="en-US" sz="1100" dirty="0"/>
          </a:p>
        </p:txBody>
      </p:sp>
      <p:sp>
        <p:nvSpPr>
          <p:cNvPr id="13" name="Text 11"/>
          <p:cNvSpPr/>
          <p:nvPr/>
        </p:nvSpPr>
        <p:spPr>
          <a:xfrm>
            <a:off x="2532888" y="1828800"/>
            <a:ext cx="182880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Algorithmic edge maps, NOT real forensic hand-drawn sketches</a:t>
            </a:r>
            <a:endParaRPr lang="en-US" sz="950" dirty="0"/>
          </a:p>
        </p:txBody>
      </p:sp>
      <p:sp>
        <p:nvSpPr>
          <p:cNvPr id="14" name="Shape 12"/>
          <p:cNvSpPr/>
          <p:nvPr/>
        </p:nvSpPr>
        <p:spPr>
          <a:xfrm>
            <a:off x="4608576" y="1078992"/>
            <a:ext cx="2011680" cy="150876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608576" y="1078992"/>
            <a:ext cx="347472" cy="347472"/>
          </a:xfrm>
          <a:prstGeom prst="rect">
            <a:avLst/>
          </a:prstGeom>
          <a:solidFill>
            <a:srgbClr val="0E7C7B"/>
          </a:solidFill>
          <a:ln w="12700">
            <a:solidFill>
              <a:srgbClr val="0E7C7B"/>
            </a:solidFill>
            <a:prstDash val="solid"/>
          </a:ln>
        </p:spPr>
      </p:sp>
      <p:sp>
        <p:nvSpPr>
          <p:cNvPr id="16" name="Text 14"/>
          <p:cNvSpPr/>
          <p:nvPr/>
        </p:nvSpPr>
        <p:spPr>
          <a:xfrm>
            <a:off x="4608576" y="10789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4700016" y="1481328"/>
            <a:ext cx="1828800" cy="32004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Distribution Shift</a:t>
            </a:r>
            <a:endParaRPr lang="en-US" sz="1100" dirty="0"/>
          </a:p>
        </p:txBody>
      </p:sp>
      <p:sp>
        <p:nvSpPr>
          <p:cNvPr id="18" name="Text 16"/>
          <p:cNvSpPr/>
          <p:nvPr/>
        </p:nvSpPr>
        <p:spPr>
          <a:xfrm>
            <a:off x="4700016" y="1828800"/>
            <a:ext cx="182880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Fails on wild photos, non-frontal poses, varied lighting</a:t>
            </a:r>
            <a:endParaRPr lang="en-US" sz="950" dirty="0"/>
          </a:p>
        </p:txBody>
      </p:sp>
      <p:sp>
        <p:nvSpPr>
          <p:cNvPr id="19" name="Shape 17"/>
          <p:cNvSpPr/>
          <p:nvPr/>
        </p:nvSpPr>
        <p:spPr>
          <a:xfrm>
            <a:off x="6775704" y="1078992"/>
            <a:ext cx="2011680" cy="150876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775704" y="1078992"/>
            <a:ext cx="347472" cy="347472"/>
          </a:xfrm>
          <a:prstGeom prst="rect">
            <a:avLst/>
          </a:prstGeom>
          <a:solidFill>
            <a:srgbClr val="0E7C7B"/>
          </a:solidFill>
          <a:ln w="12700">
            <a:solidFill>
              <a:srgbClr val="0E7C7B"/>
            </a:solidFill>
            <a:prstDash val="solid"/>
          </a:ln>
        </p:spPr>
      </p:sp>
      <p:sp>
        <p:nvSpPr>
          <p:cNvPr id="21" name="Text 19"/>
          <p:cNvSpPr/>
          <p:nvPr/>
        </p:nvSpPr>
        <p:spPr>
          <a:xfrm>
            <a:off x="6775704" y="10789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867144" y="1481328"/>
            <a:ext cx="1828800" cy="32004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Compute Budget</a:t>
            </a:r>
            <a:endParaRPr lang="en-US" sz="1100" dirty="0"/>
          </a:p>
        </p:txBody>
      </p:sp>
      <p:sp>
        <p:nvSpPr>
          <p:cNvPr id="23" name="Text 21"/>
          <p:cNvSpPr/>
          <p:nvPr/>
        </p:nvSpPr>
        <p:spPr>
          <a:xfrm>
            <a:off x="6867144" y="1828800"/>
            <a:ext cx="182880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Fine-tune v2 interrupted at 3k/10k steps — incomplete</a:t>
            </a:r>
            <a:endParaRPr lang="en-US" sz="950" dirty="0"/>
          </a:p>
        </p:txBody>
      </p:sp>
      <p:sp>
        <p:nvSpPr>
          <p:cNvPr id="24" name="Shape 22"/>
          <p:cNvSpPr/>
          <p:nvPr/>
        </p:nvSpPr>
        <p:spPr>
          <a:xfrm>
            <a:off x="274320" y="2770632"/>
            <a:ext cx="2011680" cy="150876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274320" y="2770632"/>
            <a:ext cx="347472" cy="347472"/>
          </a:xfrm>
          <a:prstGeom prst="rect">
            <a:avLst/>
          </a:prstGeom>
          <a:solidFill>
            <a:srgbClr val="0E7C7B"/>
          </a:solidFill>
          <a:ln w="12700">
            <a:solidFill>
              <a:srgbClr val="0E7C7B"/>
            </a:solidFill>
            <a:prstDash val="solid"/>
          </a:ln>
        </p:spPr>
      </p:sp>
      <p:sp>
        <p:nvSpPr>
          <p:cNvPr id="26" name="Text 24"/>
          <p:cNvSpPr/>
          <p:nvPr/>
        </p:nvSpPr>
        <p:spPr>
          <a:xfrm>
            <a:off x="274320" y="277063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365760" y="3172968"/>
            <a:ext cx="1828800" cy="32004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Fairness Bias</a:t>
            </a:r>
            <a:endParaRPr lang="en-US" sz="1100" dirty="0"/>
          </a:p>
        </p:txBody>
      </p:sp>
      <p:sp>
        <p:nvSpPr>
          <p:cNvPr id="28" name="Text 26"/>
          <p:cNvSpPr/>
          <p:nvPr/>
        </p:nvSpPr>
        <p:spPr>
          <a:xfrm>
            <a:off x="365760" y="3520440"/>
            <a:ext cx="182880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Worse on males, older faces, dark skin — reflects CelebA bias</a:t>
            </a:r>
            <a:endParaRPr lang="en-US" sz="950" dirty="0"/>
          </a:p>
        </p:txBody>
      </p:sp>
      <p:sp>
        <p:nvSpPr>
          <p:cNvPr id="29" name="Shape 27"/>
          <p:cNvSpPr/>
          <p:nvPr/>
        </p:nvSpPr>
        <p:spPr>
          <a:xfrm>
            <a:off x="2441448" y="2770632"/>
            <a:ext cx="2011680" cy="1508760"/>
          </a:xfrm>
          <a:prstGeom prst="rect">
            <a:avLst/>
          </a:prstGeom>
          <a:solidFill>
            <a:srgbClr val="FFFFFF"/>
          </a:solidFill>
          <a:ln w="12700">
            <a:solidFill>
              <a:srgbClr val="E84855"/>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2441448" y="2770632"/>
            <a:ext cx="347472" cy="347472"/>
          </a:xfrm>
          <a:prstGeom prst="rect">
            <a:avLst/>
          </a:prstGeom>
          <a:solidFill>
            <a:srgbClr val="E84855"/>
          </a:solidFill>
          <a:ln w="12700">
            <a:solidFill>
              <a:srgbClr val="E84855"/>
            </a:solidFill>
            <a:prstDash val="solid"/>
          </a:ln>
        </p:spPr>
      </p:sp>
      <p:sp>
        <p:nvSpPr>
          <p:cNvPr id="31" name="Text 29"/>
          <p:cNvSpPr/>
          <p:nvPr/>
        </p:nvSpPr>
        <p:spPr>
          <a:xfrm>
            <a:off x="2441448" y="277063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2532888" y="3172968"/>
            <a:ext cx="1828800" cy="32004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Identity Collapse</a:t>
            </a:r>
            <a:endParaRPr lang="en-US" sz="1100" dirty="0"/>
          </a:p>
        </p:txBody>
      </p:sp>
      <p:sp>
        <p:nvSpPr>
          <p:cNvPr id="33" name="Text 31"/>
          <p:cNvSpPr/>
          <p:nvPr/>
        </p:nvSpPr>
        <p:spPr>
          <a:xfrm>
            <a:off x="2532888" y="3520440"/>
            <a:ext cx="182880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Model generates plausible but WRONG face on hard inputs</a:t>
            </a:r>
            <a:endParaRPr lang="en-US" sz="950" dirty="0"/>
          </a:p>
        </p:txBody>
      </p:sp>
      <p:sp>
        <p:nvSpPr>
          <p:cNvPr id="34" name="Shape 32"/>
          <p:cNvSpPr/>
          <p:nvPr/>
        </p:nvSpPr>
        <p:spPr>
          <a:xfrm>
            <a:off x="4608576" y="2770632"/>
            <a:ext cx="2011680" cy="150876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4608576" y="2770632"/>
            <a:ext cx="347472" cy="347472"/>
          </a:xfrm>
          <a:prstGeom prst="rect">
            <a:avLst/>
          </a:prstGeom>
          <a:solidFill>
            <a:srgbClr val="0E7C7B"/>
          </a:solidFill>
          <a:ln w="12700">
            <a:solidFill>
              <a:srgbClr val="0E7C7B"/>
            </a:solidFill>
            <a:prstDash val="solid"/>
          </a:ln>
        </p:spPr>
      </p:sp>
      <p:sp>
        <p:nvSpPr>
          <p:cNvPr id="36" name="Text 34"/>
          <p:cNvSpPr/>
          <p:nvPr/>
        </p:nvSpPr>
        <p:spPr>
          <a:xfrm>
            <a:off x="4608576" y="277063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7" name="Text 35"/>
          <p:cNvSpPr/>
          <p:nvPr/>
        </p:nvSpPr>
        <p:spPr>
          <a:xfrm>
            <a:off x="4700016" y="3172968"/>
            <a:ext cx="1828800" cy="32004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No Confidence Score</a:t>
            </a:r>
            <a:endParaRPr lang="en-US" sz="1100" dirty="0"/>
          </a:p>
        </p:txBody>
      </p:sp>
      <p:sp>
        <p:nvSpPr>
          <p:cNvPr id="38" name="Text 36"/>
          <p:cNvSpPr/>
          <p:nvPr/>
        </p:nvSpPr>
        <p:spPr>
          <a:xfrm>
            <a:off x="4700016" y="3520440"/>
            <a:ext cx="182880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Model can't tell you when it's unreliable</a:t>
            </a:r>
            <a:endParaRPr lang="en-US" sz="950" dirty="0"/>
          </a:p>
        </p:txBody>
      </p:sp>
      <p:sp>
        <p:nvSpPr>
          <p:cNvPr id="39" name="Shape 37"/>
          <p:cNvSpPr/>
          <p:nvPr/>
        </p:nvSpPr>
        <p:spPr>
          <a:xfrm>
            <a:off x="6775704" y="2770632"/>
            <a:ext cx="2011680" cy="1508760"/>
          </a:xfrm>
          <a:prstGeom prst="rect">
            <a:avLst/>
          </a:prstGeom>
          <a:solidFill>
            <a:srgbClr val="FFFFFF"/>
          </a:solidFill>
          <a:ln w="12700">
            <a:solidFill>
              <a:srgbClr val="D0DDE5"/>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6775704" y="2770632"/>
            <a:ext cx="347472" cy="347472"/>
          </a:xfrm>
          <a:prstGeom prst="rect">
            <a:avLst/>
          </a:prstGeom>
          <a:solidFill>
            <a:srgbClr val="0E7C7B"/>
          </a:solidFill>
          <a:ln w="12700">
            <a:solidFill>
              <a:srgbClr val="0E7C7B"/>
            </a:solidFill>
            <a:prstDash val="solid"/>
          </a:ln>
        </p:spPr>
      </p:sp>
      <p:sp>
        <p:nvSpPr>
          <p:cNvPr id="41" name="Text 39"/>
          <p:cNvSpPr/>
          <p:nvPr/>
        </p:nvSpPr>
        <p:spPr>
          <a:xfrm>
            <a:off x="6775704" y="277063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2" name="Text 40"/>
          <p:cNvSpPr/>
          <p:nvPr/>
        </p:nvSpPr>
        <p:spPr>
          <a:xfrm>
            <a:off x="6867144" y="3172968"/>
            <a:ext cx="1828800" cy="32004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L1 Is Gameable</a:t>
            </a:r>
            <a:endParaRPr lang="en-US" sz="1100" dirty="0"/>
          </a:p>
        </p:txBody>
      </p:sp>
      <p:sp>
        <p:nvSpPr>
          <p:cNvPr id="43" name="Text 41"/>
          <p:cNvSpPr/>
          <p:nvPr/>
        </p:nvSpPr>
        <p:spPr>
          <a:xfrm>
            <a:off x="6867144" y="3520440"/>
            <a:ext cx="182880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Blurry average faces minimize L1 but look terrible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292608"/>
          </a:xfrm>
          <a:prstGeom prst="rect">
            <a:avLst/>
          </a:prstGeom>
          <a:noFill/>
          <a:ln/>
        </p:spPr>
        <p:txBody>
          <a:bodyPr wrap="square" lIns="0" tIns="0" rIns="0" bIns="0" rtlCol="0" anchor="ctr"/>
          <a:lstStyle/>
          <a:p>
            <a:pPr indent="0" marL="0">
              <a:buNone/>
            </a:pPr>
            <a:r>
              <a:rPr lang="en-US" sz="1000" b="1" spc="200" kern="0" dirty="0">
                <a:solidFill>
                  <a:srgbClr val="14A8A6"/>
                </a:solidFill>
                <a:latin typeface="Calibri" pitchFamily="34" charset="0"/>
                <a:ea typeface="Calibri" pitchFamily="34" charset="-122"/>
                <a:cs typeface="Calibri" pitchFamily="34" charset="-120"/>
              </a:rPr>
              <a:t>08  —  PLAN FOR PHASE 6</a:t>
            </a:r>
            <a:endParaRPr lang="en-US" sz="1000" dirty="0"/>
          </a:p>
        </p:txBody>
      </p:sp>
      <p:sp>
        <p:nvSpPr>
          <p:cNvPr id="3" name="Text 1"/>
          <p:cNvSpPr/>
          <p:nvPr/>
        </p:nvSpPr>
        <p:spPr>
          <a:xfrm>
            <a:off x="457200" y="502920"/>
            <a:ext cx="8229600" cy="47548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What's Left in the Final Week</a:t>
            </a:r>
            <a:endParaRPr lang="en-US" sz="2800" dirty="0"/>
          </a:p>
        </p:txBody>
      </p:sp>
      <p:sp>
        <p:nvSpPr>
          <p:cNvPr id="4" name="Shape 2"/>
          <p:cNvSpPr/>
          <p:nvPr/>
        </p:nvSpPr>
        <p:spPr>
          <a:xfrm>
            <a:off x="274320" y="1143000"/>
            <a:ext cx="2743200" cy="3749040"/>
          </a:xfrm>
          <a:prstGeom prst="rect">
            <a:avLst/>
          </a:prstGeom>
          <a:solidFill>
            <a:srgbClr val="1E3A4C"/>
          </a:solidFill>
          <a:ln w="12700">
            <a:solidFill>
              <a:srgbClr val="0E7C7B"/>
            </a:solidFill>
            <a:prstDash val="solid"/>
          </a:ln>
        </p:spPr>
      </p:sp>
      <p:sp>
        <p:nvSpPr>
          <p:cNvPr id="5" name="Shape 3"/>
          <p:cNvSpPr/>
          <p:nvPr/>
        </p:nvSpPr>
        <p:spPr>
          <a:xfrm>
            <a:off x="274320" y="1143000"/>
            <a:ext cx="2743200" cy="91440"/>
          </a:xfrm>
          <a:prstGeom prst="rect">
            <a:avLst/>
          </a:prstGeom>
          <a:solidFill>
            <a:srgbClr val="0E7C7B"/>
          </a:solidFill>
          <a:ln w="12700">
            <a:solidFill>
              <a:srgbClr val="0E7C7B"/>
            </a:solidFill>
            <a:prstDash val="solid"/>
          </a:ln>
        </p:spPr>
      </p:sp>
      <p:sp>
        <p:nvSpPr>
          <p:cNvPr id="6" name="Text 4"/>
          <p:cNvSpPr/>
          <p:nvPr/>
        </p:nvSpPr>
        <p:spPr>
          <a:xfrm>
            <a:off x="411480" y="1234440"/>
            <a:ext cx="2468880" cy="347472"/>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Deployment</a:t>
            </a:r>
            <a:endParaRPr lang="en-US" sz="1300" dirty="0"/>
          </a:p>
        </p:txBody>
      </p:sp>
      <p:sp>
        <p:nvSpPr>
          <p:cNvPr id="7" name="Shape 5"/>
          <p:cNvSpPr/>
          <p:nvPr/>
        </p:nvSpPr>
        <p:spPr>
          <a:xfrm>
            <a:off x="411480" y="1719072"/>
            <a:ext cx="201168" cy="201168"/>
          </a:xfrm>
          <a:prstGeom prst="ellipse">
            <a:avLst/>
          </a:prstGeom>
          <a:solidFill>
            <a:srgbClr val="0E7C7B"/>
          </a:solidFill>
          <a:ln w="12700">
            <a:solidFill>
              <a:srgbClr val="0E7C7B"/>
            </a:solidFill>
            <a:prstDash val="solid"/>
          </a:ln>
        </p:spPr>
      </p:sp>
      <p:sp>
        <p:nvSpPr>
          <p:cNvPr id="8" name="Text 6"/>
          <p:cNvSpPr/>
          <p:nvPr/>
        </p:nvSpPr>
        <p:spPr>
          <a:xfrm>
            <a:off x="685800" y="1700784"/>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Fine-tune v3 (full 10k steps) — highest impact remaining experiment</a:t>
            </a:r>
            <a:endParaRPr lang="en-US" sz="950" dirty="0"/>
          </a:p>
        </p:txBody>
      </p:sp>
      <p:sp>
        <p:nvSpPr>
          <p:cNvPr id="9" name="Shape 7"/>
          <p:cNvSpPr/>
          <p:nvPr/>
        </p:nvSpPr>
        <p:spPr>
          <a:xfrm>
            <a:off x="411480" y="2468880"/>
            <a:ext cx="201168" cy="201168"/>
          </a:xfrm>
          <a:prstGeom prst="ellipse">
            <a:avLst/>
          </a:prstGeom>
          <a:solidFill>
            <a:srgbClr val="0E7C7B"/>
          </a:solidFill>
          <a:ln w="12700">
            <a:solidFill>
              <a:srgbClr val="0E7C7B"/>
            </a:solidFill>
            <a:prstDash val="solid"/>
          </a:ln>
        </p:spPr>
      </p:sp>
      <p:sp>
        <p:nvSpPr>
          <p:cNvPr id="10" name="Text 8"/>
          <p:cNvSpPr/>
          <p:nvPr/>
        </p:nvSpPr>
        <p:spPr>
          <a:xfrm>
            <a:off x="685800" y="2450592"/>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Finalise Streamlit app with best checkpoint + Line B pipeline</a:t>
            </a:r>
            <a:endParaRPr lang="en-US" sz="950" dirty="0"/>
          </a:p>
        </p:txBody>
      </p:sp>
      <p:sp>
        <p:nvSpPr>
          <p:cNvPr id="11" name="Shape 9"/>
          <p:cNvSpPr/>
          <p:nvPr/>
        </p:nvSpPr>
        <p:spPr>
          <a:xfrm>
            <a:off x="411480" y="3218688"/>
            <a:ext cx="201168" cy="201168"/>
          </a:xfrm>
          <a:prstGeom prst="ellipse">
            <a:avLst/>
          </a:prstGeom>
          <a:solidFill>
            <a:srgbClr val="0E7C7B"/>
          </a:solidFill>
          <a:ln w="12700">
            <a:solidFill>
              <a:srgbClr val="0E7C7B"/>
            </a:solidFill>
            <a:prstDash val="solid"/>
          </a:ln>
        </p:spPr>
      </p:sp>
      <p:sp>
        <p:nvSpPr>
          <p:cNvPr id="12" name="Text 10"/>
          <p:cNvSpPr/>
          <p:nvPr/>
        </p:nvSpPr>
        <p:spPr>
          <a:xfrm>
            <a:off x="685800" y="3200400"/>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Test on 10+ diverse real-world photos — document failures honestly</a:t>
            </a:r>
            <a:endParaRPr lang="en-US" sz="950" dirty="0"/>
          </a:p>
        </p:txBody>
      </p:sp>
      <p:sp>
        <p:nvSpPr>
          <p:cNvPr id="13" name="Shape 11"/>
          <p:cNvSpPr/>
          <p:nvPr/>
        </p:nvSpPr>
        <p:spPr>
          <a:xfrm>
            <a:off x="411480" y="3968496"/>
            <a:ext cx="201168" cy="201168"/>
          </a:xfrm>
          <a:prstGeom prst="ellipse">
            <a:avLst/>
          </a:prstGeom>
          <a:solidFill>
            <a:srgbClr val="0E7C7B"/>
          </a:solidFill>
          <a:ln w="12700">
            <a:solidFill>
              <a:srgbClr val="0E7C7B"/>
            </a:solidFill>
            <a:prstDash val="solid"/>
          </a:ln>
        </p:spPr>
      </p:sp>
      <p:sp>
        <p:nvSpPr>
          <p:cNvPr id="14" name="Text 12"/>
          <p:cNvSpPr/>
          <p:nvPr/>
        </p:nvSpPr>
        <p:spPr>
          <a:xfrm>
            <a:off x="685800" y="3950208"/>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Add model comparison toggle in sidebar</a:t>
            </a:r>
            <a:endParaRPr lang="en-US" sz="950" dirty="0"/>
          </a:p>
        </p:txBody>
      </p:sp>
      <p:sp>
        <p:nvSpPr>
          <p:cNvPr id="15" name="Shape 13"/>
          <p:cNvSpPr/>
          <p:nvPr/>
        </p:nvSpPr>
        <p:spPr>
          <a:xfrm>
            <a:off x="3182112" y="1143000"/>
            <a:ext cx="2743200" cy="3749040"/>
          </a:xfrm>
          <a:prstGeom prst="rect">
            <a:avLst/>
          </a:prstGeom>
          <a:solidFill>
            <a:srgbClr val="1E3A4C"/>
          </a:solidFill>
          <a:ln w="12700">
            <a:solidFill>
              <a:srgbClr val="14A8A6"/>
            </a:solidFill>
            <a:prstDash val="solid"/>
          </a:ln>
        </p:spPr>
      </p:sp>
      <p:sp>
        <p:nvSpPr>
          <p:cNvPr id="16" name="Shape 14"/>
          <p:cNvSpPr/>
          <p:nvPr/>
        </p:nvSpPr>
        <p:spPr>
          <a:xfrm>
            <a:off x="3182112" y="1143000"/>
            <a:ext cx="2743200" cy="91440"/>
          </a:xfrm>
          <a:prstGeom prst="rect">
            <a:avLst/>
          </a:prstGeom>
          <a:solidFill>
            <a:srgbClr val="14A8A6"/>
          </a:solidFill>
          <a:ln w="12700">
            <a:solidFill>
              <a:srgbClr val="14A8A6"/>
            </a:solidFill>
            <a:prstDash val="solid"/>
          </a:ln>
        </p:spPr>
      </p:sp>
      <p:sp>
        <p:nvSpPr>
          <p:cNvPr id="17" name="Text 15"/>
          <p:cNvSpPr/>
          <p:nvPr/>
        </p:nvSpPr>
        <p:spPr>
          <a:xfrm>
            <a:off x="3319272" y="1234440"/>
            <a:ext cx="2468880" cy="347472"/>
          </a:xfrm>
          <a:prstGeom prst="rect">
            <a:avLst/>
          </a:prstGeom>
          <a:noFill/>
          <a:ln/>
        </p:spPr>
        <p:txBody>
          <a:bodyPr wrap="square" lIns="0" tIns="0" rIns="0" bIns="0" rtlCol="0" anchor="ctr"/>
          <a:lstStyle/>
          <a:p>
            <a:pPr indent="0" marL="0">
              <a:buNone/>
            </a:pPr>
            <a:r>
              <a:rPr lang="en-US" sz="1300" b="1" dirty="0">
                <a:solidFill>
                  <a:srgbClr val="14A8A6"/>
                </a:solidFill>
                <a:latin typeface="Calibri" pitchFamily="34" charset="0"/>
                <a:ea typeface="Calibri" pitchFamily="34" charset="-122"/>
                <a:cs typeface="Calibri" pitchFamily="34" charset="-120"/>
              </a:rPr>
              <a:t>🔗 Integration</a:t>
            </a:r>
            <a:endParaRPr lang="en-US" sz="1300" dirty="0"/>
          </a:p>
        </p:txBody>
      </p:sp>
      <p:sp>
        <p:nvSpPr>
          <p:cNvPr id="18" name="Shape 16"/>
          <p:cNvSpPr/>
          <p:nvPr/>
        </p:nvSpPr>
        <p:spPr>
          <a:xfrm>
            <a:off x="3319272" y="1719072"/>
            <a:ext cx="201168" cy="201168"/>
          </a:xfrm>
          <a:prstGeom prst="ellipse">
            <a:avLst/>
          </a:prstGeom>
          <a:solidFill>
            <a:srgbClr val="14A8A6"/>
          </a:solidFill>
          <a:ln w="12700">
            <a:solidFill>
              <a:srgbClr val="14A8A6"/>
            </a:solidFill>
            <a:prstDash val="solid"/>
          </a:ln>
        </p:spPr>
      </p:sp>
      <p:sp>
        <p:nvSpPr>
          <p:cNvPr id="19" name="Text 17"/>
          <p:cNvSpPr/>
          <p:nvPr/>
        </p:nvSpPr>
        <p:spPr>
          <a:xfrm>
            <a:off x="3593592" y="1700784"/>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Clean GitHub repo: all notebooks, app.py, requirements.txt, README</a:t>
            </a:r>
            <a:endParaRPr lang="en-US" sz="950" dirty="0"/>
          </a:p>
        </p:txBody>
      </p:sp>
      <p:sp>
        <p:nvSpPr>
          <p:cNvPr id="20" name="Shape 18"/>
          <p:cNvSpPr/>
          <p:nvPr/>
        </p:nvSpPr>
        <p:spPr>
          <a:xfrm>
            <a:off x="3319272" y="2468880"/>
            <a:ext cx="201168" cy="201168"/>
          </a:xfrm>
          <a:prstGeom prst="ellipse">
            <a:avLst/>
          </a:prstGeom>
          <a:solidFill>
            <a:srgbClr val="14A8A6"/>
          </a:solidFill>
          <a:ln w="12700">
            <a:solidFill>
              <a:srgbClr val="14A8A6"/>
            </a:solidFill>
            <a:prstDash val="solid"/>
          </a:ln>
        </p:spPr>
      </p:sp>
      <p:sp>
        <p:nvSpPr>
          <p:cNvPr id="21" name="Text 19"/>
          <p:cNvSpPr/>
          <p:nvPr/>
        </p:nvSpPr>
        <p:spPr>
          <a:xfrm>
            <a:off x="3593592" y="2450592"/>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Tag final commit as v1.0 — record commit hash for report cover</a:t>
            </a:r>
            <a:endParaRPr lang="en-US" sz="950" dirty="0"/>
          </a:p>
        </p:txBody>
      </p:sp>
      <p:sp>
        <p:nvSpPr>
          <p:cNvPr id="22" name="Shape 20"/>
          <p:cNvSpPr/>
          <p:nvPr/>
        </p:nvSpPr>
        <p:spPr>
          <a:xfrm>
            <a:off x="3319272" y="3218688"/>
            <a:ext cx="201168" cy="201168"/>
          </a:xfrm>
          <a:prstGeom prst="ellipse">
            <a:avLst/>
          </a:prstGeom>
          <a:solidFill>
            <a:srgbClr val="14A8A6"/>
          </a:solidFill>
          <a:ln w="12700">
            <a:solidFill>
              <a:srgbClr val="14A8A6"/>
            </a:solidFill>
            <a:prstDash val="solid"/>
          </a:ln>
        </p:spPr>
      </p:sp>
      <p:sp>
        <p:nvSpPr>
          <p:cNvPr id="23" name="Text 21"/>
          <p:cNvSpPr/>
          <p:nvPr/>
        </p:nvSpPr>
        <p:spPr>
          <a:xfrm>
            <a:off x="3593592" y="3200400"/>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Verify full pipeline reproducible on clean machine</a:t>
            </a:r>
            <a:endParaRPr lang="en-US" sz="950" dirty="0"/>
          </a:p>
        </p:txBody>
      </p:sp>
      <p:sp>
        <p:nvSpPr>
          <p:cNvPr id="24" name="Shape 22"/>
          <p:cNvSpPr/>
          <p:nvPr/>
        </p:nvSpPr>
        <p:spPr>
          <a:xfrm>
            <a:off x="3319272" y="3968496"/>
            <a:ext cx="201168" cy="201168"/>
          </a:xfrm>
          <a:prstGeom prst="ellipse">
            <a:avLst/>
          </a:prstGeom>
          <a:solidFill>
            <a:srgbClr val="14A8A6"/>
          </a:solidFill>
          <a:ln w="12700">
            <a:solidFill>
              <a:srgbClr val="14A8A6"/>
            </a:solidFill>
            <a:prstDash val="solid"/>
          </a:ln>
        </p:spPr>
      </p:sp>
      <p:sp>
        <p:nvSpPr>
          <p:cNvPr id="25" name="Text 23"/>
          <p:cNvSpPr/>
          <p:nvPr/>
        </p:nvSpPr>
        <p:spPr>
          <a:xfrm>
            <a:off x="3593592" y="3950208"/>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Confirm task1_results.npz cache key structure is correct</a:t>
            </a:r>
            <a:endParaRPr lang="en-US" sz="950" dirty="0"/>
          </a:p>
        </p:txBody>
      </p:sp>
      <p:sp>
        <p:nvSpPr>
          <p:cNvPr id="26" name="Shape 24"/>
          <p:cNvSpPr/>
          <p:nvPr/>
        </p:nvSpPr>
        <p:spPr>
          <a:xfrm>
            <a:off x="6089904" y="1143000"/>
            <a:ext cx="2743200" cy="3749040"/>
          </a:xfrm>
          <a:prstGeom prst="rect">
            <a:avLst/>
          </a:prstGeom>
          <a:solidFill>
            <a:srgbClr val="1E3A4C"/>
          </a:solidFill>
          <a:ln w="12700">
            <a:solidFill>
              <a:srgbClr val="F5A623"/>
            </a:solidFill>
            <a:prstDash val="solid"/>
          </a:ln>
        </p:spPr>
      </p:sp>
      <p:sp>
        <p:nvSpPr>
          <p:cNvPr id="27" name="Shape 25"/>
          <p:cNvSpPr/>
          <p:nvPr/>
        </p:nvSpPr>
        <p:spPr>
          <a:xfrm>
            <a:off x="6089904" y="1143000"/>
            <a:ext cx="2743200" cy="91440"/>
          </a:xfrm>
          <a:prstGeom prst="rect">
            <a:avLst/>
          </a:prstGeom>
          <a:solidFill>
            <a:srgbClr val="F5A623"/>
          </a:solidFill>
          <a:ln w="12700">
            <a:solidFill>
              <a:srgbClr val="F5A623"/>
            </a:solidFill>
            <a:prstDash val="solid"/>
          </a:ln>
        </p:spPr>
      </p:sp>
      <p:sp>
        <p:nvSpPr>
          <p:cNvPr id="28" name="Text 26"/>
          <p:cNvSpPr/>
          <p:nvPr/>
        </p:nvSpPr>
        <p:spPr>
          <a:xfrm>
            <a:off x="6227064" y="1234440"/>
            <a:ext cx="2468880" cy="347472"/>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 Presentation</a:t>
            </a:r>
            <a:endParaRPr lang="en-US" sz="1300" dirty="0"/>
          </a:p>
        </p:txBody>
      </p:sp>
      <p:sp>
        <p:nvSpPr>
          <p:cNvPr id="29" name="Shape 27"/>
          <p:cNvSpPr/>
          <p:nvPr/>
        </p:nvSpPr>
        <p:spPr>
          <a:xfrm>
            <a:off x="6227064" y="1719072"/>
            <a:ext cx="201168" cy="201168"/>
          </a:xfrm>
          <a:prstGeom prst="ellipse">
            <a:avLst/>
          </a:prstGeom>
          <a:solidFill>
            <a:srgbClr val="F5A623"/>
          </a:solidFill>
          <a:ln w="12700">
            <a:solidFill>
              <a:srgbClr val="F5A623"/>
            </a:solidFill>
            <a:prstDash val="solid"/>
          </a:ln>
        </p:spPr>
      </p:sp>
      <p:sp>
        <p:nvSpPr>
          <p:cNvPr id="30" name="Text 28"/>
          <p:cNvSpPr/>
          <p:nvPr/>
        </p:nvSpPr>
        <p:spPr>
          <a:xfrm>
            <a:off x="6501384" y="1700784"/>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10-minute demo: pipeline, model comparisons, robustness, limitations</a:t>
            </a:r>
            <a:endParaRPr lang="en-US" sz="950" dirty="0"/>
          </a:p>
        </p:txBody>
      </p:sp>
      <p:sp>
        <p:nvSpPr>
          <p:cNvPr id="31" name="Shape 29"/>
          <p:cNvSpPr/>
          <p:nvPr/>
        </p:nvSpPr>
        <p:spPr>
          <a:xfrm>
            <a:off x="6227064" y="2468880"/>
            <a:ext cx="201168" cy="201168"/>
          </a:xfrm>
          <a:prstGeom prst="ellipse">
            <a:avLst/>
          </a:prstGeom>
          <a:solidFill>
            <a:srgbClr val="F5A623"/>
          </a:solidFill>
          <a:ln w="12700">
            <a:solidFill>
              <a:srgbClr val="F5A623"/>
            </a:solidFill>
            <a:prstDash val="solid"/>
          </a:ln>
        </p:spPr>
      </p:sp>
      <p:sp>
        <p:nvSpPr>
          <p:cNvPr id="32" name="Text 30"/>
          <p:cNvSpPr/>
          <p:nvPr/>
        </p:nvSpPr>
        <p:spPr>
          <a:xfrm>
            <a:off x="6501384" y="2450592"/>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CUFS failure vs Line B success comparison slide</a:t>
            </a:r>
            <a:endParaRPr lang="en-US" sz="950" dirty="0"/>
          </a:p>
        </p:txBody>
      </p:sp>
      <p:sp>
        <p:nvSpPr>
          <p:cNvPr id="33" name="Shape 31"/>
          <p:cNvSpPr/>
          <p:nvPr/>
        </p:nvSpPr>
        <p:spPr>
          <a:xfrm>
            <a:off x="6227064" y="3218688"/>
            <a:ext cx="201168" cy="201168"/>
          </a:xfrm>
          <a:prstGeom prst="ellipse">
            <a:avLst/>
          </a:prstGeom>
          <a:solidFill>
            <a:srgbClr val="F5A623"/>
          </a:solidFill>
          <a:ln w="12700">
            <a:solidFill>
              <a:srgbClr val="F5A623"/>
            </a:solidFill>
            <a:prstDash val="solid"/>
          </a:ln>
        </p:spPr>
      </p:sp>
      <p:sp>
        <p:nvSpPr>
          <p:cNvPr id="34" name="Text 32"/>
          <p:cNvSpPr/>
          <p:nvPr/>
        </p:nvSpPr>
        <p:spPr>
          <a:xfrm>
            <a:off x="6501384" y="3200400"/>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Fill all [ fill ] placeholders with actual notebook values</a:t>
            </a:r>
            <a:endParaRPr lang="en-US" sz="950" dirty="0"/>
          </a:p>
        </p:txBody>
      </p:sp>
      <p:sp>
        <p:nvSpPr>
          <p:cNvPr id="35" name="Shape 33"/>
          <p:cNvSpPr/>
          <p:nvPr/>
        </p:nvSpPr>
        <p:spPr>
          <a:xfrm>
            <a:off x="6227064" y="3968496"/>
            <a:ext cx="201168" cy="201168"/>
          </a:xfrm>
          <a:prstGeom prst="ellipse">
            <a:avLst/>
          </a:prstGeom>
          <a:solidFill>
            <a:srgbClr val="F5A623"/>
          </a:solidFill>
          <a:ln w="12700">
            <a:solidFill>
              <a:srgbClr val="F5A623"/>
            </a:solidFill>
            <a:prstDash val="solid"/>
          </a:ln>
        </p:spPr>
      </p:sp>
      <p:sp>
        <p:nvSpPr>
          <p:cNvPr id="36" name="Text 34"/>
          <p:cNvSpPr/>
          <p:nvPr/>
        </p:nvSpPr>
        <p:spPr>
          <a:xfrm>
            <a:off x="6501384" y="3950208"/>
            <a:ext cx="2240280" cy="6583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Insert Figures 1–6 into report document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Text 1"/>
          <p:cNvSpPr/>
          <p:nvPr/>
        </p:nvSpPr>
        <p:spPr>
          <a:xfrm>
            <a:off x="457200" y="822960"/>
            <a:ext cx="8229600" cy="914400"/>
          </a:xfrm>
          <a:prstGeom prst="rect">
            <a:avLst/>
          </a:prstGeom>
          <a:noFill/>
          <a:ln/>
        </p:spPr>
        <p:txBody>
          <a:bodyPr wrap="square" lIns="0" tIns="0" rIns="0" bIns="0"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4" name="Text 2"/>
          <p:cNvSpPr/>
          <p:nvPr/>
        </p:nvSpPr>
        <p:spPr>
          <a:xfrm>
            <a:off x="457200" y="1783080"/>
            <a:ext cx="8229600" cy="411480"/>
          </a:xfrm>
          <a:prstGeom prst="rect">
            <a:avLst/>
          </a:prstGeom>
          <a:noFill/>
          <a:ln/>
        </p:spPr>
        <p:txBody>
          <a:bodyPr wrap="square" lIns="0" tIns="0" rIns="0" bIns="0" rtlCol="0" anchor="ctr"/>
          <a:lstStyle/>
          <a:p>
            <a:pPr indent="0" marL="0">
              <a:buNone/>
            </a:pPr>
            <a:r>
              <a:rPr lang="en-US" sz="1600" dirty="0">
                <a:solidFill>
                  <a:srgbClr val="14A8A6"/>
                </a:solidFill>
                <a:latin typeface="Calibri" pitchFamily="34" charset="0"/>
                <a:ea typeface="Calibri" pitchFamily="34" charset="-122"/>
                <a:cs typeface="Calibri" pitchFamily="34" charset="-120"/>
              </a:rPr>
              <a:t>Sketch-to-Face Image Synthesis  ·  Phase 5 Evaluation</a:t>
            </a:r>
            <a:endParaRPr lang="en-US" sz="1600" dirty="0"/>
          </a:p>
        </p:txBody>
      </p:sp>
      <p:sp>
        <p:nvSpPr>
          <p:cNvPr id="5" name="Shape 3"/>
          <p:cNvSpPr/>
          <p:nvPr/>
        </p:nvSpPr>
        <p:spPr>
          <a:xfrm>
            <a:off x="457200" y="2423160"/>
            <a:ext cx="1965960" cy="822960"/>
          </a:xfrm>
          <a:prstGeom prst="rect">
            <a:avLst/>
          </a:prstGeom>
          <a:solidFill>
            <a:srgbClr val="1E3A4C"/>
          </a:solidFill>
          <a:ln w="12700">
            <a:solidFill>
              <a:srgbClr val="0E7C7B"/>
            </a:solidFill>
            <a:prstDash val="solid"/>
          </a:ln>
        </p:spPr>
      </p:sp>
      <p:sp>
        <p:nvSpPr>
          <p:cNvPr id="6" name="Text 4"/>
          <p:cNvSpPr/>
          <p:nvPr/>
        </p:nvSpPr>
        <p:spPr>
          <a:xfrm>
            <a:off x="457200" y="2450592"/>
            <a:ext cx="1965960" cy="384048"/>
          </a:xfrm>
          <a:prstGeom prst="rect">
            <a:avLst/>
          </a:prstGeom>
          <a:noFill/>
          <a:ln/>
        </p:spPr>
        <p:txBody>
          <a:bodyPr wrap="square" lIns="0" tIns="0" rIns="0" bIns="0" rtlCol="0" anchor="ctr"/>
          <a:lstStyle/>
          <a:p>
            <a:pPr algn="ctr" indent="0" marL="0">
              <a:buNone/>
            </a:pPr>
            <a:r>
              <a:rPr lang="en-US" sz="2200" b="1" dirty="0">
                <a:solidFill>
                  <a:srgbClr val="0E7C7B"/>
                </a:solidFill>
                <a:latin typeface="Calibri" pitchFamily="34" charset="0"/>
                <a:ea typeface="Calibri" pitchFamily="34" charset="-122"/>
                <a:cs typeface="Calibri" pitchFamily="34" charset="-120"/>
              </a:rPr>
              <a:t>0.2960</a:t>
            </a:r>
            <a:endParaRPr lang="en-US" sz="2200" dirty="0"/>
          </a:p>
        </p:txBody>
      </p:sp>
      <p:sp>
        <p:nvSpPr>
          <p:cNvPr id="7" name="Text 5"/>
          <p:cNvSpPr/>
          <p:nvPr/>
        </p:nvSpPr>
        <p:spPr>
          <a:xfrm>
            <a:off x="457200" y="2834640"/>
            <a:ext cx="1965960" cy="32004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Best L1 (Phase 4)</a:t>
            </a:r>
            <a:endParaRPr lang="en-US" sz="900" dirty="0"/>
          </a:p>
        </p:txBody>
      </p:sp>
      <p:sp>
        <p:nvSpPr>
          <p:cNvPr id="8" name="Shape 6"/>
          <p:cNvSpPr/>
          <p:nvPr/>
        </p:nvSpPr>
        <p:spPr>
          <a:xfrm>
            <a:off x="2606040" y="2423160"/>
            <a:ext cx="1965960" cy="822960"/>
          </a:xfrm>
          <a:prstGeom prst="rect">
            <a:avLst/>
          </a:prstGeom>
          <a:solidFill>
            <a:srgbClr val="1E3A4C"/>
          </a:solidFill>
          <a:ln w="12700">
            <a:solidFill>
              <a:srgbClr val="0E7C7B"/>
            </a:solidFill>
            <a:prstDash val="solid"/>
          </a:ln>
        </p:spPr>
      </p:sp>
      <p:sp>
        <p:nvSpPr>
          <p:cNvPr id="9" name="Text 7"/>
          <p:cNvSpPr/>
          <p:nvPr/>
        </p:nvSpPr>
        <p:spPr>
          <a:xfrm>
            <a:off x="2606040" y="2450592"/>
            <a:ext cx="1965960" cy="384048"/>
          </a:xfrm>
          <a:prstGeom prst="rect">
            <a:avLst/>
          </a:prstGeom>
          <a:noFill/>
          <a:ln/>
        </p:spPr>
        <p:txBody>
          <a:bodyPr wrap="square" lIns="0" tIns="0" rIns="0" bIns="0" rtlCol="0" anchor="ctr"/>
          <a:lstStyle/>
          <a:p>
            <a:pPr algn="ctr" indent="0" marL="0">
              <a:buNone/>
            </a:pPr>
            <a:r>
              <a:rPr lang="en-US" sz="2200" b="1" dirty="0">
                <a:solidFill>
                  <a:srgbClr val="0E7C7B"/>
                </a:solidFill>
                <a:latin typeface="Calibri" pitchFamily="34" charset="0"/>
                <a:ea typeface="Calibri" pitchFamily="34" charset="-122"/>
                <a:cs typeface="Calibri" pitchFamily="34" charset="-120"/>
              </a:rPr>
              <a:t>0.677</a:t>
            </a:r>
            <a:endParaRPr lang="en-US" sz="2200" dirty="0"/>
          </a:p>
        </p:txBody>
      </p:sp>
      <p:sp>
        <p:nvSpPr>
          <p:cNvPr id="10" name="Text 8"/>
          <p:cNvSpPr/>
          <p:nvPr/>
        </p:nvSpPr>
        <p:spPr>
          <a:xfrm>
            <a:off x="2606040" y="2834640"/>
            <a:ext cx="1965960" cy="32004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Best LPIPS (Phase 4)</a:t>
            </a:r>
            <a:endParaRPr lang="en-US" sz="900" dirty="0"/>
          </a:p>
        </p:txBody>
      </p:sp>
      <p:sp>
        <p:nvSpPr>
          <p:cNvPr id="11" name="Shape 9"/>
          <p:cNvSpPr/>
          <p:nvPr/>
        </p:nvSpPr>
        <p:spPr>
          <a:xfrm>
            <a:off x="4754880" y="2423160"/>
            <a:ext cx="1965960" cy="822960"/>
          </a:xfrm>
          <a:prstGeom prst="rect">
            <a:avLst/>
          </a:prstGeom>
          <a:solidFill>
            <a:srgbClr val="1E3A4C"/>
          </a:solidFill>
          <a:ln w="12700">
            <a:solidFill>
              <a:srgbClr val="0E7C7B"/>
            </a:solidFill>
            <a:prstDash val="solid"/>
          </a:ln>
        </p:spPr>
      </p:sp>
      <p:sp>
        <p:nvSpPr>
          <p:cNvPr id="12" name="Text 10"/>
          <p:cNvSpPr/>
          <p:nvPr/>
        </p:nvSpPr>
        <p:spPr>
          <a:xfrm>
            <a:off x="4754880" y="2450592"/>
            <a:ext cx="1965960" cy="384048"/>
          </a:xfrm>
          <a:prstGeom prst="rect">
            <a:avLst/>
          </a:prstGeom>
          <a:noFill/>
          <a:ln/>
        </p:spPr>
        <p:txBody>
          <a:bodyPr wrap="square" lIns="0" tIns="0" rIns="0" bIns="0" rtlCol="0" anchor="ctr"/>
          <a:lstStyle/>
          <a:p>
            <a:pPr algn="ctr" indent="0" marL="0">
              <a:buNone/>
            </a:pPr>
            <a:r>
              <a:rPr lang="en-US" sz="2200" b="1" dirty="0">
                <a:solidFill>
                  <a:srgbClr val="0E7C7B"/>
                </a:solidFill>
                <a:latin typeface="Calibri" pitchFamily="34" charset="0"/>
                <a:ea typeface="Calibri" pitchFamily="34" charset="-122"/>
                <a:cs typeface="Calibri" pitchFamily="34" charset="-120"/>
              </a:rPr>
              <a:t>19.3%</a:t>
            </a:r>
            <a:endParaRPr lang="en-US" sz="2200" dirty="0"/>
          </a:p>
        </p:txBody>
      </p:sp>
      <p:sp>
        <p:nvSpPr>
          <p:cNvPr id="13" name="Text 11"/>
          <p:cNvSpPr/>
          <p:nvPr/>
        </p:nvSpPr>
        <p:spPr>
          <a:xfrm>
            <a:off x="4754880" y="2834640"/>
            <a:ext cx="1965960" cy="32004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L1 reduction vs scratch</a:t>
            </a:r>
            <a:endParaRPr lang="en-US" sz="900" dirty="0"/>
          </a:p>
        </p:txBody>
      </p:sp>
      <p:sp>
        <p:nvSpPr>
          <p:cNvPr id="14" name="Shape 12"/>
          <p:cNvSpPr/>
          <p:nvPr/>
        </p:nvSpPr>
        <p:spPr>
          <a:xfrm>
            <a:off x="6903720" y="2423160"/>
            <a:ext cx="1965960" cy="822960"/>
          </a:xfrm>
          <a:prstGeom prst="rect">
            <a:avLst/>
          </a:prstGeom>
          <a:solidFill>
            <a:srgbClr val="1E3A4C"/>
          </a:solidFill>
          <a:ln w="12700">
            <a:solidFill>
              <a:srgbClr val="0E7C7B"/>
            </a:solidFill>
            <a:prstDash val="solid"/>
          </a:ln>
        </p:spPr>
      </p:sp>
      <p:sp>
        <p:nvSpPr>
          <p:cNvPr id="15" name="Text 13"/>
          <p:cNvSpPr/>
          <p:nvPr/>
        </p:nvSpPr>
        <p:spPr>
          <a:xfrm>
            <a:off x="6903720" y="2450592"/>
            <a:ext cx="1965960" cy="384048"/>
          </a:xfrm>
          <a:prstGeom prst="rect">
            <a:avLst/>
          </a:prstGeom>
          <a:noFill/>
          <a:ln/>
        </p:spPr>
        <p:txBody>
          <a:bodyPr wrap="square" lIns="0" tIns="0" rIns="0" bIns="0" rtlCol="0" anchor="ctr"/>
          <a:lstStyle/>
          <a:p>
            <a:pPr algn="ctr" indent="0" marL="0">
              <a:buNone/>
            </a:pPr>
            <a:r>
              <a:rPr lang="en-US" sz="2200" b="1" dirty="0">
                <a:solidFill>
                  <a:srgbClr val="0E7C7B"/>
                </a:solidFill>
                <a:latin typeface="Calibri" pitchFamily="34" charset="0"/>
                <a:ea typeface="Calibri" pitchFamily="34" charset="-122"/>
                <a:cs typeface="Calibri" pitchFamily="34" charset="-120"/>
              </a:rPr>
              <a:t>0.719</a:t>
            </a:r>
            <a:endParaRPr lang="en-US" sz="2200" dirty="0"/>
          </a:p>
        </p:txBody>
      </p:sp>
      <p:sp>
        <p:nvSpPr>
          <p:cNvPr id="16" name="Text 14"/>
          <p:cNvSpPr/>
          <p:nvPr/>
        </p:nvSpPr>
        <p:spPr>
          <a:xfrm>
            <a:off x="6903720" y="2834640"/>
            <a:ext cx="1965960" cy="32004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Cohen's d effect size</a:t>
            </a:r>
            <a:endParaRPr lang="en-US" sz="900" dirty="0"/>
          </a:p>
        </p:txBody>
      </p:sp>
      <p:sp>
        <p:nvSpPr>
          <p:cNvPr id="17" name="Text 15"/>
          <p:cNvSpPr/>
          <p:nvPr/>
        </p:nvSpPr>
        <p:spPr>
          <a:xfrm>
            <a:off x="457200" y="3429000"/>
            <a:ext cx="8229600" cy="594360"/>
          </a:xfrm>
          <a:prstGeom prst="rect">
            <a:avLst/>
          </a:prstGeom>
          <a:noFill/>
          <a:ln/>
        </p:spPr>
        <p:txBody>
          <a:bodyPr wrap="square" lIns="0" tIns="0" rIns="0" bIns="0" rtlCol="0" anchor="ctr"/>
          <a:lstStyle/>
          <a:p>
            <a:pPr indent="0" marL="0">
              <a:buNone/>
            </a:pPr>
            <a:r>
              <a:rPr lang="en-US" sz="3200" b="1" dirty="0">
                <a:solidFill>
                  <a:srgbClr val="14A8A6"/>
                </a:solidFill>
                <a:latin typeface="Calibri" pitchFamily="34" charset="0"/>
                <a:ea typeface="Calibri" pitchFamily="34" charset="-122"/>
                <a:cs typeface="Calibri" pitchFamily="34" charset="-120"/>
              </a:rPr>
              <a:t>Questions?</a:t>
            </a:r>
            <a:endParaRPr lang="en-US" sz="3200" dirty="0"/>
          </a:p>
        </p:txBody>
      </p:sp>
      <p:sp>
        <p:nvSpPr>
          <p:cNvPr id="18" name="Text 16"/>
          <p:cNvSpPr/>
          <p:nvPr/>
        </p:nvSpPr>
        <p:spPr>
          <a:xfrm>
            <a:off x="457200" y="4526280"/>
            <a:ext cx="82296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Moazzam  ·  Bilal Asif  ·  Muaz Ahmed  |  AI335L  ·  NASTP-IIT  ·  Spring 2024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Sketch-to-Face Image Synthesis — Phase 5 Evaluation</dc:title>
  <dc:subject>PptxGenJS Presentation</dc:subject>
  <dc:creator>PptxGenJS</dc:creator>
  <cp:lastModifiedBy>PptxGenJS</cp:lastModifiedBy>
  <cp:revision>1</cp:revision>
  <dcterms:created xsi:type="dcterms:W3CDTF">2026-06-01T08:24:59Z</dcterms:created>
  <dcterms:modified xsi:type="dcterms:W3CDTF">2026-06-01T08:24:59Z</dcterms:modified>
</cp:coreProperties>
</file>