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75569"/>
                </a:solidFill>
                <a:latin typeface="Arial"/>
              </a:rPr>
              <a:t>Validation L1 Loss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L1 Loss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MLP Baseline</c:v>
                  </c:pt>
                  <c:pt idx="1">
                    <c:v>pSp (from scratch, Ph3)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0.419</c:v>
                </c:pt>
                <c:pt idx="1">
                  <c:v>0.4764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2"/>
          <c:min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75569"/>
                </a:solidFill>
                <a:latin typeface="Arial"/>
              </a:rPr>
              <a:t>Validation L1 Loss — All Models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L1 Loss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0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MLP
Baseline</c:v>
                  </c:pt>
                  <c:pt idx="1">
                    <c:v>Phase 3
pSp scratch</c:v>
                  </c:pt>
                  <c:pt idx="2">
                    <c:v>Config A
Frozen</c:v>
                  </c:pt>
                  <c:pt idx="3">
                    <c:v>Config B
Full FT</c:v>
                  </c:pt>
                  <c:pt idx="4">
                    <c:v>Config C ★
Diff LR</c:v>
                  </c:pt>
                  <c:pt idx="5">
                    <c:v>Config D
Grad Unfreeze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0.419</c:v>
                </c:pt>
                <c:pt idx="1">
                  <c:v>0.4764</c:v>
                </c:pt>
                <c:pt idx="2">
                  <c:v>0.4119</c:v>
                </c:pt>
                <c:pt idx="3">
                  <c:v>0.3876</c:v>
                </c:pt>
                <c:pt idx="4">
                  <c:v>0.3845</c:v>
                </c:pt>
                <c:pt idx="5">
                  <c:v>0.3908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75569"/>
                </a:solidFill>
                <a:latin typeface="Arial"/>
              </a:rPr>
              <a:t>VAE Total Loss — Train vs Val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Total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Ep 1</c:v>
                  </c:pt>
                  <c:pt idx="1">
                    <c:v>Ep 2</c:v>
                  </c:pt>
                  <c:pt idx="2">
                    <c:v>Ep 3</c:v>
                  </c:pt>
                  <c:pt idx="3">
                    <c:v>Ep 5</c:v>
                  </c:pt>
                  <c:pt idx="4">
                    <c:v>Ep 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0.329</c:v>
                </c:pt>
                <c:pt idx="1">
                  <c:v>0.3077</c:v>
                </c:pt>
                <c:pt idx="2">
                  <c:v>0.3087</c:v>
                </c:pt>
                <c:pt idx="3">
                  <c:v>0.2864</c:v>
                </c:pt>
                <c:pt idx="4">
                  <c:v>0.2725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Total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Ep 1</c:v>
                  </c:pt>
                  <c:pt idx="1">
                    <c:v>Ep 2</c:v>
                  </c:pt>
                  <c:pt idx="2">
                    <c:v>Ep 3</c:v>
                  </c:pt>
                  <c:pt idx="3">
                    <c:v>Ep 5</c:v>
                  </c:pt>
                  <c:pt idx="4">
                    <c:v>Ep 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0.2774</c:v>
                </c:pt>
                <c:pt idx="1">
                  <c:v>0.2882</c:v>
                </c:pt>
                <c:pt idx="2">
                  <c:v>0.2919</c:v>
                </c:pt>
                <c:pt idx="3">
                  <c:v>0.2761</c:v>
                </c:pt>
                <c:pt idx="4">
                  <c:v>0.2673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.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75569"/>
                </a:solidFill>
                <a:latin typeface="Arial"/>
              </a:rPr>
              <a:t>Hyperparameter Importance (FAnova)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FAnova Importance</c:v>
                </c:pt>
              </c:strCache>
            </c:strRef>
          </c:tx>
          <c:spPr>
            <a:solidFill>
              <a:srgbClr val="9DB0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0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0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0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0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lambda_lpips</c:v>
                  </c:pt>
                  <c:pt idx="1">
                    <c:v>weight_decay</c:v>
                  </c:pt>
                  <c:pt idx="2">
                    <c:v>lr_head</c:v>
                  </c:pt>
                  <c:pt idx="3">
                    <c:v>lambda_l1</c:v>
                  </c:pt>
                  <c:pt idx="4">
                    <c:v>lr_backbone</c:v>
                  </c:pt>
                  <c:pt idx="5">
                    <c:v>dropout_p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0.0649</c:v>
                </c:pt>
                <c:pt idx="1">
                  <c:v>0.0918</c:v>
                </c:pt>
                <c:pt idx="2">
                  <c:v>0.1104</c:v>
                </c:pt>
                <c:pt idx="3">
                  <c:v>0.1253</c:v>
                </c:pt>
                <c:pt idx="4">
                  <c:v>0.1872</c:v>
                </c:pt>
                <c:pt idx="5">
                  <c:v>0.4204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75569"/>
                </a:solidFill>
                <a:latin typeface="Arial"/>
              </a:rPr>
              <a:t>Final Test L1 — Phase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L1 Loss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MLP Baseline</c:v>
                  </c:pt>
                  <c:pt idx="1">
                    <c:v>Phase 3
pSp scratch</c:v>
                  </c:pt>
                  <c:pt idx="2">
                    <c:v>Phase 4
Final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0.419</c:v>
                </c:pt>
                <c:pt idx="1">
                  <c:v>0.4764</c:v>
                </c:pt>
                <c:pt idx="2">
                  <c:v>0.3556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AI335L — DEEP LEARNING LAB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Sketch-to-Face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Synthesis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Refinement Report  ·  Transfer Learning | VAE | Hyperparameter 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029200" cy="109728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Moazzam Sharif  ·  Bilal Asif  ·  Muaz Ahmad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github.com/BILAL-ASIF-github/Sketch-to-Face-Image-Synthesis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phase4-submission  ·  May 18,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383280"/>
            <a:ext cx="685800" cy="105156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38328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Sketch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256×256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720840" y="3909060"/>
            <a:ext cx="22860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3383280"/>
            <a:ext cx="685800" cy="1051560"/>
          </a:xfrm>
          <a:prstGeom prst="rect">
            <a:avLst/>
          </a:prstGeom>
          <a:solidFill>
            <a:srgbClr val="00B4D8">
              <a:alpha val="8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38328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ResNet-50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Encoder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543800" y="3909060"/>
            <a:ext cx="22860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3383280"/>
            <a:ext cx="685800" cy="1051560"/>
          </a:xfrm>
          <a:prstGeom prst="rect">
            <a:avLst/>
          </a:prstGeom>
          <a:solidFill>
            <a:srgbClr val="0077A8">
              <a:alpha val="80000"/>
            </a:srgbClr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38328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StyleGAN2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Decoder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366760" y="3909060"/>
            <a:ext cx="22860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685800" cy="1051560"/>
          </a:xfrm>
          <a:prstGeom prst="rect">
            <a:avLst/>
          </a:prstGeom>
          <a:solidFill>
            <a:srgbClr val="22C55E">
              <a:alpha val="8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38328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Face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Output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pencil sketch → realistic face photograph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618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476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hand-drawn Canny edge sketch of a face, synthesise a photorealistic face image that matches the sketch 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618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Core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476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pixel2Style2pixel (pSp): a ResNet-50 encoder maps 256×256 edge maps to 18 style codes (dim 512), fed to a StyleGAN2 decoder.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5478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— 25,000 face/sketch pairs for training. Augmented with 100+ VAE-generated synthetic faces.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Phase 4 Goals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35478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random encoder with pretrained ResNet-50 · Add a VAE for augmentation · Run Bayesian hyperparameter search with Optuna.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3 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built a working pSp pipeline — but underperformed the MLP baseline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417320"/>
            <a:ext cx="3840480" cy="329184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Phase 3 Findings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20574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trained from scratch scored 0.4764 L1 — worse than the 0.4190 MLP reference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27157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StyleGAN2 decoder needs anchored style codes; random encoder weights fail to provide them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337413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metric was non-functional (missing install) — only L1 loss used in Phase 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403250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targets: pretrained backbone, VAE augmentation, principled HPO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TRANSFER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as the Encoder Backbone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ImageNet-1K V2 pretrained · 23.5M backbone params · BSD-3 license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234440" cy="1005840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256×256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Edge Map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08760" y="1965960"/>
            <a:ext cx="13716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463040"/>
            <a:ext cx="1234440" cy="100584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ResNet-50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1–4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0360" y="1965960"/>
            <a:ext cx="13716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463040"/>
            <a:ext cx="1234440" cy="1005840"/>
          </a:xfrm>
          <a:prstGeom prst="rect">
            <a:avLst/>
          </a:prstGeom>
          <a:solidFill>
            <a:srgbClr val="0077A8">
              <a:alpha val="85000"/>
            </a:srgbClr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Projection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(8+6+4 codes)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13716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463040"/>
            <a:ext cx="1234440" cy="1005840"/>
          </a:xfrm>
          <a:prstGeom prst="rect">
            <a:avLst/>
          </a:prstGeom>
          <a:solidFill>
            <a:srgbClr val="8B5CF6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F.normalize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(unit sphere)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23560" y="1965960"/>
            <a:ext cx="13716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463040"/>
            <a:ext cx="1234440" cy="1005840"/>
          </a:xfrm>
          <a:prstGeom prst="rect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StyleGAN2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Decoder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95160" y="1965960"/>
            <a:ext cx="13716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463040"/>
            <a:ext cx="1234440" cy="1005840"/>
          </a:xfrm>
          <a:prstGeom prst="rect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463040"/>
            <a:ext cx="1234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256×256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Transfer Learning Configurations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73736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164592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Backbone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Trainable Params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 — Feature Extraction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Backbone fully frozen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 (frozen)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30.3M heads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 — Full Fine-tuning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weights updated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1e-5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53.8M 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C — Differential LR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Backbone + heads, different LRs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1e-5 (heads 1e-3)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53.8M 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 — Gradual Unfreeze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Layers unfrozen epoch by epoch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 → 1e-5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30.3M → 53.6M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TRANSFER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All 4 Configs Beat Phase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 (Differential LR) wins with 19.3% improvement over Phase 3 pSp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1732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417320"/>
            <a:ext cx="45720" cy="7498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4721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Config C  ★  Best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709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A8"/>
                </a:solidFill>
              </a:rPr>
              <a:t>0.3845 L1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97880" y="1911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19.3% better than Phase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258568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58568"/>
            <a:ext cx="4572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313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vs MLP Baseline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551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−8.2%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97880" y="2752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0.4190 → 0.3845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099816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99816"/>
            <a:ext cx="4572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154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 LPIPS (Config C)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33924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0.6100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97880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Perceptual metric added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3941064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3941064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9959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No Catastrophic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Forgetting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B &gt; A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89788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Fine-tuning helps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GENERATIVE COMPONENT — VAE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Variational Autoencoder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CelebA faces · 51.8M params · latent dim = 512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ENCODER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28016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3×256×256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6093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417320"/>
            <a:ext cx="128016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Conv×5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3→512ch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6093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417320"/>
            <a:ext cx="128016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Flatten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6093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417320"/>
            <a:ext cx="128016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μ &amp; log σ²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(dim 512)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557784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55778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Reparameterisation:  z = μ + ε · σ    where  ε ~ N(0, I)    ← allows gradient flow through sampling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25328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</a:rPr>
              <a:t>DECODER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1280160" cy="384048"/>
          </a:xfrm>
          <a:prstGeom prst="rect">
            <a:avLst/>
          </a:prstGeom>
          <a:solidFill>
            <a:srgbClr val="0077A8">
              <a:alpha val="8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 (dim 512)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9809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2788920"/>
            <a:ext cx="1280160" cy="384048"/>
          </a:xfrm>
          <a:prstGeom prst="rect">
            <a:avLst/>
          </a:prstGeom>
          <a:solidFill>
            <a:srgbClr val="0077A8">
              <a:alpha val="8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 → 512×8×8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0" y="29809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2788920"/>
            <a:ext cx="1280160" cy="384048"/>
          </a:xfrm>
          <a:prstGeom prst="rect">
            <a:avLst/>
          </a:prstGeom>
          <a:solidFill>
            <a:srgbClr val="0077A8">
              <a:alpha val="8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ConvT×5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512→3ch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2980944"/>
            <a:ext cx="91440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2788920"/>
            <a:ext cx="1280160" cy="384048"/>
          </a:xfrm>
          <a:prstGeom prst="rect">
            <a:avLst/>
          </a:prstGeom>
          <a:solidFill>
            <a:srgbClr val="0077A8">
              <a:alpha val="8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Tanh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[-1, 1]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1417320"/>
            <a:ext cx="2834640" cy="329184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Loss Function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7"/>
                </a:solidFill>
              </a:rPr>
              <a:t>Reconstruction (L1)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157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||x − x̂||₁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7"/>
                </a:solidFill>
              </a:rPr>
              <a:t>KL Divergence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8437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−½·(1+logσ²−μ²−σ²)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35040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7"/>
                </a:solidFill>
              </a:rPr>
              <a:t>Total Loss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35295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L = L_recon + β·L_KL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35040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7"/>
                </a:solidFill>
              </a:rPr>
              <a:t>KL Annealing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2153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β: 0 → 1 over 3 epochs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(prevents posterior collapse)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10128"/>
            <a:ext cx="5394960" cy="1417320"/>
          </a:xfrm>
          <a:prstGeom prst="rect">
            <a:avLst/>
          </a:prstGeom>
          <a:solidFill>
            <a:srgbClr val="E8F0F7"/>
          </a:solidFill>
          <a:ln w="12700">
            <a:solidFill>
              <a:srgbClr val="D4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51.8M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11480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Total Params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64792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512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764792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Latent Dim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18104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0.0413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118104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Final Val KL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71416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0.2434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471416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Recon L1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VAE — TRAINING &amp;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8-Epoch Training &amp; Pipeline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annealing prevented posterior collapse · 100+ augmented faces generated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417320"/>
            <a:ext cx="3291840" cy="329184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Integration with pSp Pipeline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1938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7"/>
                </a:solidFill>
              </a:rPr>
              <a:t>🔀  Data Augmentation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22128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Each training face encoded to μ, perturbed with Gaussian noise (σ=0.1) in latent space, decoded → realistic variant. Avg L1 between augmented/original: 0.24 (identity-preserving).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77840" y="2852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7"/>
                </a:solidFill>
              </a:rPr>
              <a:t>🗺  Latent Space Analysis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31272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Smooth interpolation between two real face encodings confirms a semantically continuous manifold — same space the pSp encoder navigates from sketch inputs.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3767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7"/>
                </a:solidFill>
              </a:rPr>
              <a:t>🔗  Intentional Alignment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0416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VAE latent dim = 512 = StyleGAN2 style code dim. Designed for potential future fusion between the two generative components.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HYPERPARAMETER OPTIMISATION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Bayesian Search Setup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sampler · MedianPruner · SQLite persistence · 6 completed trials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179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LIBRARY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Optuna 3.x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5179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SAMPLER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10128" y="1719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TPE (Bayesian)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5179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PRUNER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44768" y="1719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MedianPruner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2037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STORAGE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404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SQLite (.db)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148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0128" y="22037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OBJECTIVE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128" y="2404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Min Val L1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148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44768" y="22037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BASE MODEL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44768" y="2404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pSp + Config 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907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Search Space (6 Hyperparameters)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64408"/>
          <a:ext cx="841248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645920"/>
                <a:gridCol w="3840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lr_head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 (log)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1e-4 → 1e-2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Style head &amp; decoder speed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lr_backbone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 (log)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1e-6 → 1e-4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ResNet-50 adaptation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weight_decay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 (log)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1e-5 → 1e-2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 regularisation strength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dropout_p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 → 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Dropout in decoder (most important!)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lambda_l1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 → 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 reconstruction weight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lambda_lpips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 → 1.5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Perceptual loss weight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HPO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Found — Trial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 = 0.3626 · Beats Config C (0.3845) and MLP Baseline (0.4190)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1663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Selected Best Configuration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783080"/>
          <a:ext cx="356616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lr_head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1.307e-4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lr_backbone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5.399e-5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weight_decay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6.358e-4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dropout_p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0.354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lambda_l1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lambda_lpips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1.461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Best Val 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0.3626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166360" y="4069080"/>
            <a:ext cx="3566160" cy="640080"/>
          </a:xfrm>
          <a:prstGeom prst="rect">
            <a:avLst/>
          </a:prstGeom>
          <a:solidFill>
            <a:srgbClr val="E8F0F7"/>
          </a:solidFill>
          <a:ln w="12700">
            <a:solidFill>
              <a:srgbClr val="D4E3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257800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⚠  Only 6/20 planned trials completed (system shutdowns). Best config is a strong starting point — not a definitive optimum. Top-2 trials differ by 0.011.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INTEGRATED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Final Model — End-to-End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+ Differential LR + VAE Augmentation + Optuna HPO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600200" cy="100584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481328"/>
            <a:ext cx="274320" cy="274320"/>
          </a:xfrm>
          <a:prstGeom prst="ellipse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256×256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Canny edge 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(white bg)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1920240"/>
            <a:ext cx="155448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417320"/>
            <a:ext cx="1600200" cy="100584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1481328"/>
            <a:ext cx="274320" cy="274320"/>
          </a:xfrm>
          <a:prstGeom prst="ellipse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14016" y="1472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ResNet-50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Encoder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93976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 residual stages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AdaptiveAvgPool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3 proj heads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30168" y="1920240"/>
            <a:ext cx="155448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1417320"/>
            <a:ext cx="1600200" cy="100584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9624" y="1481328"/>
            <a:ext cx="274320" cy="274320"/>
          </a:xfrm>
          <a:prstGeom prst="ellipse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69664" y="1472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F.normalize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9624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(B,18,512)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style codes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on unit sphere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85816" y="1920240"/>
            <a:ext cx="155448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264" y="1417320"/>
            <a:ext cx="1600200" cy="100584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5272" y="1481328"/>
            <a:ext cx="274320" cy="274320"/>
          </a:xfrm>
          <a:prstGeom prst="ellipse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05272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25312" y="1472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StyleGAN2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Decoder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05272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Synthesised 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(B,3,256,256)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41464" y="1920240"/>
            <a:ext cx="155448" cy="0"/>
          </a:xfrm>
          <a:prstGeom prst="line">
            <a:avLst/>
          </a:prstGeom>
          <a:noFill/>
          <a:ln w="19050">
            <a:solidFill>
              <a:srgbClr val="9DB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417320"/>
            <a:ext cx="1600200" cy="1005840"/>
          </a:xfrm>
          <a:prstGeom prst="rect">
            <a:avLst/>
          </a:prstGeom>
          <a:solidFill>
            <a:srgbClr val="8B5CF6">
              <a:alpha val="7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481328"/>
            <a:ext cx="274320" cy="274320"/>
          </a:xfrm>
          <a:prstGeom prst="ellipse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1472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VAE Aug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ConvVAE encoder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perturbation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augmented face</a:t>
            </a:r>
            <a:endParaRPr lang="en-US" sz="8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365760" y="2578608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709160" y="260604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70916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−25.4%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4709160" y="31729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L1 improvement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vs Phase 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217920" y="260604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21792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−15.1%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217920" y="31729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vs MLP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Baseline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726680" y="260604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72668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0.3556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7726680" y="31729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Final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L1 Score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09160" y="3749040"/>
            <a:ext cx="4023360" cy="1005840"/>
          </a:xfrm>
          <a:prstGeom prst="rect">
            <a:avLst/>
          </a:prstGeom>
          <a:solidFill>
            <a:srgbClr val="E8F0F7"/>
          </a:solidFill>
          <a:ln w="12700">
            <a:solidFill>
              <a:srgbClr val="D4E3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060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Note: Outputs remain blurry due to L1-dominant loss and only 5 training epochs. Phase 5 will address this with 20–30 epoch training and full LPIPS in the gradient.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NEGATIVE RESULTS &amp; LESSONS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— and What We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analysis: 5 documented issues with root causes and fixes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08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  NaN Losses from Random Projection Heads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81965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Randomly initialised heads produced arbitrary-scale style codes → StyleGAN2 decoder diverged. Fix: F.normalize(styles, dim=-1) before decoding.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508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  MedianPruner Too Aggressive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01184" y="181965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14/20 trials pruned after epoch 1. Fix: n_startup_trials=10, n_warmup_steps=2 — only 1 epoch remains for the pruner to act.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157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15768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8072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  Corrupted Optuna SQLite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11810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Stale variable reference crashed objective → Optuna retried same params 4× in a loop. Lesson: always test objective manually before launching full study.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157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15768"/>
            <a:ext cx="54864" cy="1170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8072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  System Shutdowns During Long Runs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01184" y="311810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Two PC shutdowns during 5–6 hr HPO sessions. SQLite persistence resumed from last trial, but mid-run trials were lost. Lesson: disable OS power management.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401421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4014216"/>
            <a:ext cx="54864" cy="1170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4105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05  LPIPS in Training Loop Too Slow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60904" y="441655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Per-batch LPIPS → 30–45 min epochs. Moved to validation-only on 10 batches → 6 min epochs. Use LPIPS as final training loss, not during architecture search.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5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· LPIPS in gradient · SSIM/FID evaluation · Full ablation study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206240" cy="384048"/>
          </a:xfrm>
          <a:prstGeom prst="rect">
            <a:avLst/>
          </a:prstGeom>
          <a:solidFill>
            <a:srgbClr val="0077A8">
              <a:alpha val="9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Full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20–30 epochs with best HPO config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85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L1 + LPIPS as training loss (not just metric)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VAE-augmented faces included in training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4206240" cy="384048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630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📏 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92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SSIM on full test 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185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FID: 1,000 generated vs 1,000 real faces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478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Per-identity consistency across 5 sketches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00400"/>
            <a:ext cx="4206240" cy="384048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46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 Ablation Studies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With vs without F.normalize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With vs without VAE augmentation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L1-only vs L1+LPIPS training loss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553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Config C vs Config A at 20 epochs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00400"/>
            <a:ext cx="4206240" cy="384048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246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Error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Failure modes: hair occlusion, extreme pose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Attention / gradient maps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Error distribution by CelebA attribute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553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Reconstruction error distribution plot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4"/>
                </a:solidFill>
              </a:rPr>
              <a:t>Three pillars of improvement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651760" cy="246888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2651760" cy="5943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Transfer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−19.3%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Val L1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ResNet-50 backbone (ImageNet pretrained) with differential LR (Config C) → 19.3% better than Phase 3 scratch pSp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53312"/>
            <a:ext cx="2651760" cy="2468880"/>
          </a:xfrm>
          <a:prstGeom prst="rect">
            <a:avLst/>
          </a:prstGeom>
          <a:solidFill>
            <a:srgbClr val="1B2E4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53312"/>
            <a:ext cx="2651760" cy="5943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264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VAE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0391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0.0413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KL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2651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51.8M-param ConvVAE trained on CelebA · KL annealing prevented collapse · 100+ identity-preserving augmented faces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51760" cy="2468880"/>
          </a:xfrm>
          <a:prstGeom prst="rect">
            <a:avLst/>
          </a:prstGeom>
          <a:solidFill>
            <a:srgbClr val="1B2E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53312"/>
            <a:ext cx="2651760" cy="5943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264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Bayesian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0391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0.3626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Best Val L1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4768" y="2651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B0C4"/>
                </a:solidFill>
              </a:rPr>
              <a:t>Optuna TPE search · dropout_p most important (0.42 importance) · Best val L1 = 0.3626 from 6 completed trials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Phase 4 Final Test L1: 0.3556  ·  25.4% better than Phase 3  ·  15.1% better than MLP baseline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599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0C4"/>
                </a:solidFill>
              </a:rPr>
              <a:t>github.com/BILAL-ASIF-github/Sketch-to-Face-Image-Synthesis  ·  tag: phase4-submission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AI335L Phase 4 — Sketch-to-Face Image Synthesis</dc:title>
  <dc:subject>PptxGenJS Presentation</dc:subject>
  <dc:creator>PptxGenJS</dc:creator>
  <cp:lastModifiedBy>PptxGenJS</cp:lastModifiedBy>
  <cp:revision>1</cp:revision>
  <dcterms:created xsi:type="dcterms:W3CDTF">2026-05-18T08:11:36Z</dcterms:created>
  <dcterms:modified xsi:type="dcterms:W3CDTF">2026-05-18T08:11:36Z</dcterms:modified>
</cp:coreProperties>
</file>