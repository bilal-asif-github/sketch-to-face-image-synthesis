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0BF755-B01B-42E6-831F-543C34501510}" v="9" dt="2026-06-02T19:48:10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687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474720"/>
            <a:ext cx="3200400" cy="1828800"/>
          </a:xfrm>
          <a:prstGeom prst="rect">
            <a:avLst/>
          </a:prstGeom>
          <a:solidFill>
            <a:srgbClr val="E07B39">
              <a:alpha val="18000"/>
            </a:srgbClr>
          </a:solidFill>
          <a:ln w="12700">
            <a:solidFill>
              <a:srgbClr val="E07B3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C84B31">
              <a:alpha val="10000"/>
            </a:srgbClr>
          </a:solidFill>
          <a:ln w="12700">
            <a:solidFill>
              <a:srgbClr val="C84B3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NASTP INSTITUTE OF INFORMATION TECHNOLOGY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AI335L — Deep Learning Lab  |  BS Computer Science  |  Spring 2024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Sketch-to-Face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Image Synthesis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Pix2Pix Conditional GAN &amp; ResNet-50 Transfer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"Turning forensic sketches into photorealistic faces through end-to-end deep learning."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041648"/>
            <a:ext cx="8229600" cy="7772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E07B3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48640" y="41330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Moazzam Sharif (Team Lead)  •  Bilal Asif (Data Analyst)  •  Muaz Ahmed (Testing &amp; Deployment)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53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Lecturer Muhammad Haseeb  |  Submission: June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8862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deep learning pipeline: forensic sketch → photorealistic face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development phases from problem formulation to deployment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25,000 filtered CelebA images at 256×256 resolution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model: ResNet-50 encoder + StyleGAN2 decoder (pSp framework)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Streamlit web application with Docker containerisation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 with full reproducibility documentation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91440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187452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800600" y="1005840"/>
            <a:ext cx="187452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25.4%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800600" y="1545336"/>
            <a:ext cx="187452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Improvement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Scratch Baseline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9144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6766560" y="914400"/>
            <a:ext cx="1920240" cy="5486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766560" y="100584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4B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53.8M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6560" y="1545336"/>
            <a:ext cx="192024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(ResNet-50 TL)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10312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800600" y="2103120"/>
            <a:ext cx="1874520" cy="54864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800600" y="2194560"/>
            <a:ext cx="187452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3E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0.2960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00600" y="2734056"/>
            <a:ext cx="187452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L1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4)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10312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766560" y="2103120"/>
            <a:ext cx="1920240" cy="54864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766560" y="2194560"/>
            <a:ext cx="19202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9B6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0" y="2734056"/>
            <a:ext cx="192024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291840"/>
            <a:ext cx="3886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892040" y="34290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github.com/BILAL-ASIF-github/Sketch-to-Face-Image-Synthesis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79476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  •  Reproducible Pipeline  •  Docker Ready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Project Roadmap — Six Phases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896112"/>
            <a:ext cx="12984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722376" y="987552"/>
            <a:ext cx="548640" cy="548640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22376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7472" y="166420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" y="2176272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SRS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920240"/>
            <a:ext cx="54864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700784" y="896112"/>
            <a:ext cx="12984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2075688" y="987552"/>
            <a:ext cx="548640" cy="548640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2075688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00784" y="166420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EDA &amp; Baseline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700784" y="2176272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 EDA,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baseline training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99232" y="1920240"/>
            <a:ext cx="54864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3054096" y="896112"/>
            <a:ext cx="12984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3429000" y="987552"/>
            <a:ext cx="548640" cy="548640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3429000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54096" y="166420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pSp Architecture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54096" y="2176272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GradualStyleEncoder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StyleGAN2 decoder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52544" y="1920240"/>
            <a:ext cx="54864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407408" y="896112"/>
            <a:ext cx="12984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782312" y="987552"/>
            <a:ext cx="548640" cy="548640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782312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407408" y="166420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Transfer Learning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07408" y="2176272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TL,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augmentation, HPO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05856" y="1920240"/>
            <a:ext cx="54864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5760720" y="896112"/>
            <a:ext cx="12984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6135624" y="987552"/>
            <a:ext cx="548640" cy="548640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135624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60720" y="166420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760720" y="2176272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Ablation, robustness,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59168" y="1920240"/>
            <a:ext cx="54864" cy="91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7114032" y="896112"/>
            <a:ext cx="1298448" cy="3108960"/>
          </a:xfrm>
          <a:prstGeom prst="rect">
            <a:avLst/>
          </a:prstGeom>
          <a:solidFill>
            <a:srgbClr val="E07B39"/>
          </a:solidFill>
          <a:ln w="254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7488936" y="987552"/>
            <a:ext cx="548640" cy="548640"/>
          </a:xfrm>
          <a:prstGeom prst="lin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7488936" y="987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14032" y="1664208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114032" y="2176272"/>
            <a:ext cx="1298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Docker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187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Final phase — production pipeline with CodeFormer enhancement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5486400" y="2743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07B39">
                    <a:alpha val="1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8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 Formulation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Requirements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6052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Core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 relies on forensic sketches when no photo evidence exists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ID from sketches: 30–40% accuracy under controlled conditions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NGI database has tens of millions of records — sketch search is inefficient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domain gap: sketches = abstract line drawings; databases = photographic faces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sketch → photorealistic face conversion via deep learning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00600" y="868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Applications &amp; Motivation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298448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64008" cy="7132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956048" y="13441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Forensic 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56048" y="159105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suspect face reconstruction from witness sketches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2103120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4800600" y="2103120"/>
            <a:ext cx="64008" cy="7132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956048" y="21488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Missing Persons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6048" y="239572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age-progression and sketch matching for identification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907792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800600" y="2907792"/>
            <a:ext cx="64008" cy="7132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956048" y="295351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Entertainment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32004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art to photorealistic portrait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712464"/>
            <a:ext cx="3886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800600" y="3712464"/>
            <a:ext cx="64008" cy="7132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956048" y="37581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ML Research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40050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Demanding image-to-image translation benchmark task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Related Work Landscape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011680" cy="493776"/>
          </a:xfrm>
          <a:prstGeom prst="rect">
            <a:avLst/>
          </a:prstGeom>
          <a:solidFill>
            <a:srgbClr val="E07B39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822960"/>
            <a:ext cx="1828800" cy="493776"/>
          </a:xfrm>
          <a:prstGeom prst="rect">
            <a:avLst/>
          </a:prstGeom>
          <a:solidFill>
            <a:srgbClr val="E07B39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423160" y="82296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822960"/>
            <a:ext cx="2560320" cy="493776"/>
          </a:xfrm>
          <a:prstGeom prst="rect">
            <a:avLst/>
          </a:prstGeom>
          <a:solidFill>
            <a:srgbClr val="E07B39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251960" y="82296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822960"/>
            <a:ext cx="2286000" cy="493776"/>
          </a:xfrm>
          <a:prstGeom prst="rect">
            <a:avLst/>
          </a:prstGeom>
          <a:solidFill>
            <a:srgbClr val="E07B39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812280" y="82296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16736"/>
            <a:ext cx="201168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11480" y="1316736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Pix2Pix (2017)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31720" y="1316736"/>
            <a:ext cx="182880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2423160" y="131673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cGAN + U-Net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1316736"/>
            <a:ext cx="256032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251960" y="131673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effective baseline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20840" y="1316736"/>
            <a:ext cx="228600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812280" y="131673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paired data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810512"/>
            <a:ext cx="2011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11480" y="1810512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CycleGAN (2017)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31720" y="1810512"/>
            <a:ext cx="1828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2423160" y="181051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Cycle-consistency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60520" y="1810512"/>
            <a:ext cx="2560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251960" y="181051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Unpaired training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20840" y="1810512"/>
            <a:ext cx="22860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6812280" y="181051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structural accuracy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2304288"/>
            <a:ext cx="201168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11480" y="2304288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(2021)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331720" y="2304288"/>
            <a:ext cx="182880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2423160" y="2304288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StyleGAN2 encoder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60520" y="2304288"/>
            <a:ext cx="256032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251960" y="2304288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generative prior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20840" y="2304288"/>
            <a:ext cx="228600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812280" y="2304288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inputs only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2798064"/>
            <a:ext cx="2011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11480" y="2798064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S2FGAN (2022)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31720" y="2798064"/>
            <a:ext cx="18288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2423160" y="2798064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GAN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60520" y="2798064"/>
            <a:ext cx="25603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251960" y="279806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structure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720840" y="2798064"/>
            <a:ext cx="22860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6812280" y="279806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annotations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3291840"/>
            <a:ext cx="201168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411480" y="3291840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DSFace (2025)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331720" y="3291840"/>
            <a:ext cx="182880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2423160" y="329184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+ ControlNet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160520" y="3291840"/>
            <a:ext cx="256032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4251960" y="329184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realism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720840" y="3291840"/>
            <a:ext cx="2286000" cy="493776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6812280" y="329184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real-time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0040" y="3785616"/>
            <a:ext cx="2011680" cy="493776"/>
          </a:xfrm>
          <a:prstGeom prst="rect">
            <a:avLst/>
          </a:prstGeom>
          <a:solidFill>
            <a:srgbClr val="C84B31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411480" y="3785616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331720" y="3785616"/>
            <a:ext cx="1828800" cy="493776"/>
          </a:xfrm>
          <a:prstGeom prst="rect">
            <a:avLst/>
          </a:prstGeom>
          <a:solidFill>
            <a:srgbClr val="C84B31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2423160" y="378561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+ ResNet-50 TL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160520" y="3785616"/>
            <a:ext cx="2560320" cy="493776"/>
          </a:xfrm>
          <a:prstGeom prst="rect">
            <a:avLst/>
          </a:prstGeom>
          <a:solidFill>
            <a:srgbClr val="C84B31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4251960" y="3785616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study on CelebA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720840" y="3785616"/>
            <a:ext cx="2286000" cy="493776"/>
          </a:xfrm>
          <a:prstGeom prst="rect">
            <a:avLst/>
          </a:prstGeom>
          <a:solidFill>
            <a:srgbClr val="C84B31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6812280" y="378561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map domain gap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This work contributes a novel transfer learning ablation study on CelebA 256px with edge-map inputs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5486400" y="2743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07B39">
                    <a:alpha val="1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8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Dataset &amp; EDA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 Preprocessing &amp; MLP Baseline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Dataset: CelebA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5146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5146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202,599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5146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CelebA Images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(10,177 identities)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3291840" y="868680"/>
            <a:ext cx="2514600" cy="5486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3291840" y="960120"/>
            <a:ext cx="25146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4B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25,000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91840" y="1444752"/>
            <a:ext cx="25146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Images Used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attribute filtering)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68680"/>
            <a:ext cx="2514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514600" cy="54864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126480" y="960120"/>
            <a:ext cx="2514600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3E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256×256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126480" y="1444752"/>
            <a:ext cx="2514600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Resolution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(resized from 178×218)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53035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94360" y="2011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Line B Preprocessing Pipeline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423160"/>
            <a:ext cx="658368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48640" y="242316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Crop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Align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07008" y="2766060"/>
            <a:ext cx="73152" cy="9144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1280160" y="2423160"/>
            <a:ext cx="658368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1280160" y="242316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d=9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38528" y="2766060"/>
            <a:ext cx="73152" cy="9144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2011680" y="2423160"/>
            <a:ext cx="658368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2011680" y="242316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Low=50 Hi=150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70048" y="2766060"/>
            <a:ext cx="73152" cy="9144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2743200" y="2423160"/>
            <a:ext cx="658368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2743200" y="242316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Dilation 2×2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01568" y="2766060"/>
            <a:ext cx="73152" cy="9144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3474720" y="2423160"/>
            <a:ext cx="658368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3474720" y="242316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33088" y="2766060"/>
            <a:ext cx="73152" cy="9144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4206240" y="2423160"/>
            <a:ext cx="658368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206240" y="242316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64608" y="2766060"/>
            <a:ext cx="73152" cy="91440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937760" y="2423160"/>
            <a:ext cx="658368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937760" y="2423160"/>
            <a:ext cx="6583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[-1, 1]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" y="33101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addresses a specific EDA finding (brightness distribution, edge density, etc.)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97880" y="1938528"/>
            <a:ext cx="27889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Shape 38"/>
          <p:cNvSpPr/>
          <p:nvPr/>
        </p:nvSpPr>
        <p:spPr>
          <a:xfrm>
            <a:off x="5897880" y="1938528"/>
            <a:ext cx="278892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5989320" y="20299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EDA Key Findings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89320" y="2395728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Brightness: N(130, 20) — 6% outliers filtered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asymmetry: R=0.54, G=0.49, B=0.44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density: N(0.06, 0.02)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images filtered (too sparse/dense edges)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Faces ~bilaterally symmetric → safe horizontal flip augmentation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 Train 80% (20k)  |  Val 10% (2.5k)  |  Test 10% (2.5k)  — seed=42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2 — MLP Baseline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5029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Feedforward MLP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475488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Flatten 64×64×3 = 12,288-D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1792224"/>
            <a:ext cx="4754880" cy="347472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85800" y="179222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(2,048) + BatchNorm + LeakyReLU(0.2) + Dropout(0.3)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212848"/>
            <a:ext cx="4754880" cy="347472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85800" y="22128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(1,024) + BatchNorm + LeakyReLU(0.2) + Dropout(0.3)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633472"/>
            <a:ext cx="4754880" cy="347472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85800" y="263347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(512) + BatchNorm + LeakyReLU(0.2) + Dropout(0.3)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054096"/>
            <a:ext cx="475488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85800" y="305409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(12,288) + Tanh → Reshape 3×64×64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init • L1 (MAE) loss preferred over MSE (avoids blurry predictions)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86868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5669280" y="868680"/>
            <a:ext cx="146304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669280" y="960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66928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86868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7223760" y="868680"/>
            <a:ext cx="1463040" cy="5486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7223760" y="960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4B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64×64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22376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18745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5669280" y="1874520"/>
            <a:ext cx="1463040" cy="54864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5669280" y="1965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3E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669280" y="2423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18745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7223760" y="1874520"/>
            <a:ext cx="1463040" cy="54864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7223760" y="1965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9B6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0.4190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223760" y="2423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Floor)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2880360"/>
            <a:ext cx="3017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5669280" y="2880360"/>
            <a:ext cx="301752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5806440" y="29718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Design Choices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06440" y="33375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Kaiming (He) init for LeakyReLU compensation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output → [-1,1] matches normalised targets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loss → sharper reconstructions than MSE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floor for all subsequent models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5486400" y="2743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07B39">
                    <a:alpha val="1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8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pSp Architecture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GradualStyleEncoder + StyleGAN2 Decoder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3 — pSp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6908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GradualStyleEncoder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379476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256×256×3 Edge Map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755648"/>
            <a:ext cx="379476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Stem: Conv2d 3→64, 256×256 + PReLU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139696"/>
            <a:ext cx="379476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85800" y="2139696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Stage 1: 128ch, 128×128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523744"/>
            <a:ext cx="379476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85800" y="25237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Stage 2: 256ch, 64×64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2907792"/>
            <a:ext cx="379476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85800" y="290779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Stage 3: 512ch, 32×32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291840"/>
            <a:ext cx="379476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85800" y="329184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Stage 4: 512ch, 16×16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7490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map heads (AvgPool + Linear) → 8 + 6 + 4 = 18 style codes × 512-D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~18M parameters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023360" cy="5486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80060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StyleGAN2 Decoder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371600"/>
            <a:ext cx="3749040" cy="320040"/>
          </a:xfrm>
          <a:prstGeom prst="rect">
            <a:avLst/>
          </a:prstGeom>
          <a:solidFill>
            <a:srgbClr val="C84B31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89204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codes: 18 × 512-D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1755648"/>
            <a:ext cx="374904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892040" y="1755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AdaIN Block: 4×4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139696"/>
            <a:ext cx="374904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4892040" y="2139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AdaIN Block: 8×8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2523744"/>
            <a:ext cx="374904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4892040" y="25237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AdaIN Block: 16×16  →  32×32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2907792"/>
            <a:ext cx="3749040" cy="3200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892040" y="29077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AdaIN Block: 64×64  →  128×128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00600" y="3291840"/>
            <a:ext cx="3749040" cy="320040"/>
          </a:xfrm>
          <a:prstGeom prst="rect">
            <a:avLst/>
          </a:prstGeom>
          <a:solidFill>
            <a:srgbClr val="C84B31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489204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to_rgb Conv2d + Tanh → 256×256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00600" y="3749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0–5: coarse geometry  |  Codes 12–17: fine texture &amp; colour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4114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~12M 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5486400" y="2743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07B39">
                    <a:alpha val="1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8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Transfer Learning &amp; VAE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Fine-Tuning + HPO with Optuna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4 — ResNet-50 Transfer Learning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configurations compared: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475488" cy="475488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56692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2435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Feature Extraction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5179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LR: Frozen   Head LR: 1e-3   Trainable: 30.3M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0" y="1243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144475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0.4119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66928" y="2011680"/>
            <a:ext cx="475488" cy="475488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66928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0432" y="1993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Full Fine-Tuning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32" y="22677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LR: 1e-5   Head LR: 1e-3   Trainable: 53.8M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199339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2194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0.3876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267004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57200" y="2670048"/>
            <a:ext cx="8229600" cy="6583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566928" y="2761488"/>
            <a:ext cx="475488" cy="475488"/>
          </a:xfrm>
          <a:prstGeom prst="lin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66928" y="2761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0432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Differential LR ★ BEST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70432" y="3017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LR: 1e-5   Head LR: 1e-3   Trainable: 53.8M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27432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29443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0.3845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341985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566928" y="3511296"/>
            <a:ext cx="475488" cy="475488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66928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70432" y="3493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Gradual Unfreeze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70432" y="37673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LR: 0→1e-5   Head LR: 1e-3   Trainable: 30.3M→53.6M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34930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36941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0.3908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C: differential LR treats pretrained backbone and randomly-initialised heads differently — confirming transfer learning best practices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4 — VAE Augmentation &amp; Hyperparameter Optimisation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160520" cy="5486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94360" y="96926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Convolutional VAE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CelebA-HQ; 51.8M parameters, latent dim 512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5× strided Conv2d + mu/log-var heads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5× transposed Conv2d + Tanh output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annealing: beta 0→1 over 3 warmup epochs (prevents collapse)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 L1=0.2673, Val KL=0.0413 at epoch 8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encode → perturb (σ=0.1) → decode; avg L1=0.24 (identity-preserving)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3657600"/>
            <a:ext cx="1874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594360" y="3657600"/>
            <a:ext cx="1874520" cy="5486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1874520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4B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51.8M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" y="4014216"/>
            <a:ext cx="1874520" cy="2080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Params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78608" y="3657600"/>
            <a:ext cx="19019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2578608" y="3657600"/>
            <a:ext cx="1901952" cy="54864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2578608" y="3749040"/>
            <a:ext cx="1901952" cy="32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C3E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0.0413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78608" y="4014216"/>
            <a:ext cx="1901952" cy="2080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 KL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3931920" cy="54864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92040" y="9692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Optuna HPO (TPE + MedianPruner)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41732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dropout_p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0" y="141732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69480" y="1481328"/>
            <a:ext cx="1280160" cy="164592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7269480" y="1481328"/>
            <a:ext cx="537667" cy="1645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260000" y="141732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176479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lr_backbone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17647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5.4e-5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69480" y="1828800"/>
            <a:ext cx="1280160" cy="164592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7269480" y="1828800"/>
            <a:ext cx="243230" cy="1645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8260000" y="1764792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211226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lambda_l1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2112264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69480" y="2176272"/>
            <a:ext cx="1280160" cy="164592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7269480" y="2176272"/>
            <a:ext cx="166420" cy="1645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8260000" y="2112264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245973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lr_head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0" y="24597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1.3e-4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69480" y="2523744"/>
            <a:ext cx="1280160" cy="164592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7269480" y="2523744"/>
            <a:ext cx="140817" cy="1645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8260000" y="245973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280720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weight_decay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0" y="280720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6.4e-4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69480" y="2871216"/>
            <a:ext cx="1280160" cy="164592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7269480" y="2871216"/>
            <a:ext cx="115214" cy="1645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8260000" y="280720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315468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lambda_lpips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0" y="315468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269480" y="3218688"/>
            <a:ext cx="1280160" cy="164592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7269480" y="3218688"/>
            <a:ext cx="76809" cy="16459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8260000" y="3154680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92040" y="3657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dropout_p = dominant hyperparameter (FAnova importance: 42%)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5486400" y="2743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07B39">
                    <a:alpha val="1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8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Evaluation &amp; Results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Studies, Robustness, Statistical Testing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5 — Final Test-Set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84048" y="86868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63240" y="868680"/>
            <a:ext cx="146304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127248" y="868680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L1 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26280" y="868680"/>
            <a:ext cx="146304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590288" y="868680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LPIPS 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868680"/>
            <a:ext cx="146304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053328" y="868680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SSIM 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52360" y="868680"/>
            <a:ext cx="155448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7516368" y="868680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Bar (lower=better)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261872"/>
            <a:ext cx="27432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84048" y="1261872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Baseline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2)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63240" y="126187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3127248" y="1261872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0.4190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126187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90288" y="1261872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1261872"/>
            <a:ext cx="1463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053328" y="1261872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52360" y="1261872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7543800" y="1371600"/>
            <a:ext cx="1371600" cy="201168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7543800" y="1371600"/>
            <a:ext cx="1277112" cy="201168"/>
          </a:xfrm>
          <a:prstGeom prst="rect">
            <a:avLst/>
          </a:prstGeom>
          <a:solidFill>
            <a:srgbClr val="8C8C8C"/>
          </a:solidFill>
          <a:ln w="12700">
            <a:solidFill>
              <a:srgbClr val="8C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320040" y="1737360"/>
            <a:ext cx="274320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84048" y="1737360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Scratch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3)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063240" y="1737360"/>
            <a:ext cx="14630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3127248" y="1737360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0.4764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26280" y="1737360"/>
            <a:ext cx="14630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590288" y="1737360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0.723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1737360"/>
            <a:ext cx="14630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053328" y="1737360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0.392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52360" y="1737360"/>
            <a:ext cx="155448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7543800" y="1847088"/>
            <a:ext cx="1371600" cy="201168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Shape 33"/>
          <p:cNvSpPr/>
          <p:nvPr/>
        </p:nvSpPr>
        <p:spPr>
          <a:xfrm>
            <a:off x="7543800" y="1847088"/>
            <a:ext cx="1371600" cy="201168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320040" y="2212848"/>
            <a:ext cx="2743200" cy="420624"/>
          </a:xfrm>
          <a:prstGeom prst="rect">
            <a:avLst/>
          </a:prstGeom>
          <a:solidFill>
            <a:srgbClr val="FFF3ED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384048" y="2212848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TL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4) ★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063240" y="2212848"/>
            <a:ext cx="1463040" cy="420624"/>
          </a:xfrm>
          <a:prstGeom prst="rect">
            <a:avLst/>
          </a:prstGeom>
          <a:solidFill>
            <a:srgbClr val="FFF3ED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3127248" y="2212848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0.2960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26280" y="2212848"/>
            <a:ext cx="1463040" cy="420624"/>
          </a:xfrm>
          <a:prstGeom prst="rect">
            <a:avLst/>
          </a:prstGeom>
          <a:solidFill>
            <a:srgbClr val="FFF3ED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4590288" y="2212848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0.677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89320" y="2212848"/>
            <a:ext cx="1463040" cy="420624"/>
          </a:xfrm>
          <a:prstGeom prst="rect">
            <a:avLst/>
          </a:prstGeom>
          <a:solidFill>
            <a:srgbClr val="FFF3ED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6053328" y="2212848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0.351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52360" y="2212848"/>
            <a:ext cx="1554480" cy="420624"/>
          </a:xfrm>
          <a:prstGeom prst="rect">
            <a:avLst/>
          </a:prstGeom>
          <a:solidFill>
            <a:srgbClr val="FFF3ED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Shape 43"/>
          <p:cNvSpPr/>
          <p:nvPr/>
        </p:nvSpPr>
        <p:spPr>
          <a:xfrm>
            <a:off x="7543800" y="2322576"/>
            <a:ext cx="1371600" cy="201168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7543800" y="2322576"/>
            <a:ext cx="902208" cy="20116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Shape 45"/>
          <p:cNvSpPr/>
          <p:nvPr/>
        </p:nvSpPr>
        <p:spPr>
          <a:xfrm>
            <a:off x="320040" y="2688336"/>
            <a:ext cx="274320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384048" y="2688336"/>
            <a:ext cx="2615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pSp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(Reference)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63240" y="2688336"/>
            <a:ext cx="14630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3127248" y="2688336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0.2374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26280" y="2688336"/>
            <a:ext cx="14630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4590288" y="2688336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0.723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989320" y="2688336"/>
            <a:ext cx="146304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6053328" y="2688336"/>
            <a:ext cx="13350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0.392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452360" y="2688336"/>
            <a:ext cx="1554480" cy="420624"/>
          </a:xfrm>
          <a:prstGeom prst="rect">
            <a:avLst/>
          </a:prstGeom>
          <a:solidFill>
            <a:srgbClr val="F5F0E8"/>
          </a:solidFill>
          <a:ln w="635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6" name="Shape 54"/>
          <p:cNvSpPr/>
          <p:nvPr/>
        </p:nvSpPr>
        <p:spPr>
          <a:xfrm>
            <a:off x="7543800" y="2798064"/>
            <a:ext cx="1371600" cy="201168"/>
          </a:xfrm>
          <a:prstGeom prst="rect">
            <a:avLst/>
          </a:prstGeom>
          <a:solidFill>
            <a:srgbClr val="E8E0D0"/>
          </a:solidFill>
          <a:ln w="12700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Shape 55"/>
          <p:cNvSpPr/>
          <p:nvPr/>
        </p:nvSpPr>
        <p:spPr>
          <a:xfrm>
            <a:off x="7543800" y="2798064"/>
            <a:ext cx="723595" cy="201168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8" name="Shape 56"/>
          <p:cNvSpPr/>
          <p:nvPr/>
        </p:nvSpPr>
        <p:spPr>
          <a:xfrm>
            <a:off x="320040" y="3364992"/>
            <a:ext cx="8366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9" name="Shape 57"/>
          <p:cNvSpPr/>
          <p:nvPr/>
        </p:nvSpPr>
        <p:spPr>
          <a:xfrm>
            <a:off x="320040" y="3364992"/>
            <a:ext cx="8366760" cy="54864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0" name="Text 58"/>
          <p:cNvSpPr/>
          <p:nvPr/>
        </p:nvSpPr>
        <p:spPr>
          <a:xfrm>
            <a:off x="457200" y="3456432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Significance: </a:t>
            </a: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 Phase 4 vs Phase 3 baseline — t = 35.942, p &lt; 0.0001, Cohen's d = 0.719 (large effect)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3822192"/>
            <a:ext cx="809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for Test L1: </a:t>
            </a: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0.2960 [0.2934, 0.2986]  (1,000-resample bootstrap — narrow interval confirms stability)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5 — Ablation Studies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9748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48640" y="10241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Ablation 1: TL vs Scratch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514600" cy="411480"/>
          </a:xfrm>
          <a:prstGeom prst="rect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+25.4% L1 improvement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training: 0.4764 val L1 vs 0.3556 for transfer-learned model. Pretrained ImageNet features are the dominant performance driver.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9144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310128" y="914400"/>
            <a:ext cx="2697480" cy="7315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401568" y="10241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Ablation 2: Config Comparison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01568" y="1554480"/>
            <a:ext cx="2514600" cy="411480"/>
          </a:xfrm>
          <a:prstGeom prst="rect">
            <a:avLst/>
          </a:prstGeom>
          <a:solidFill>
            <a:srgbClr val="C84B31">
              <a:alpha val="15000"/>
            </a:srgbClr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401568" y="15544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B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Config C best at 0.3845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205740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LR wins. Frozen backbone (Config A=0.4119) still beats MLP, confirming ImageNet features transfer even without adaptation.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91440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163056" y="914400"/>
            <a:ext cx="2697480" cy="73152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254496" y="10241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Ablation 5: F.normalize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1554480"/>
            <a:ext cx="2514600" cy="411480"/>
          </a:xfrm>
          <a:prstGeom prst="rect">
            <a:avLst/>
          </a:prstGeom>
          <a:solidFill>
            <a:srgbClr val="2C3E7A">
              <a:alpha val="15000"/>
            </a:srgbClr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6254496" y="155448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65% L1 degradation without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2057400"/>
            <a:ext cx="2514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F.normalize degrades val L1 from 0.2985 → 0.4943. Style code normalisation is a critical stability mechanism.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5943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Robustness Probes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Gaussian Noise: graceful up to σ=10; steep decline at σ=20+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JPEG Compression: near-baseline quality ≥75; pronounced degradation at quality ≤25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Dilation Kernel: best at 2×2 (training distribution); degradation in both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5 — Visualisations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265176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6.1: Test L1 Comparison Bar Chart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2423160"/>
            <a:ext cx="265176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24612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6.2: Robustness Probe Line Charts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2423160"/>
            <a:ext cx="265176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035040" y="2423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6.3: Qualitative Results Grid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402336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3.1: Preprocessing Pipeline Diagram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4526280"/>
            <a:ext cx="402336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663440" y="4526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4.2: pSp Architecture Diagram</a:t>
            </a:r>
            <a:endParaRPr lang="en-US" sz="900" dirty="0"/>
          </a:p>
        </p:txBody>
      </p:sp>
      <p:pic>
        <p:nvPicPr>
          <p:cNvPr id="100" name="Pic_Fig61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868680"/>
            <a:ext cx="2651760" cy="1874520"/>
          </a:xfrm>
          <a:prstGeom prst="rect">
            <a:avLst/>
          </a:prstGeom>
        </p:spPr>
      </p:pic>
      <p:pic>
        <p:nvPicPr>
          <p:cNvPr id="101" name="Pic_Fig62"/>
          <p:cNvPicPr/>
          <p:nvPr/>
        </p:nvPicPr>
        <p:blipFill>
          <a:blip r:embed="rId4"/>
          <a:stretch>
            <a:fillRect/>
          </a:stretch>
        </p:blipFill>
        <p:spPr>
          <a:xfrm>
            <a:off x="3246120" y="868680"/>
            <a:ext cx="2651760" cy="1874520"/>
          </a:xfrm>
          <a:prstGeom prst="rect">
            <a:avLst/>
          </a:prstGeom>
        </p:spPr>
      </p:pic>
      <p:pic>
        <p:nvPicPr>
          <p:cNvPr id="102" name="Pic_Fig63"/>
          <p:cNvPicPr/>
          <p:nvPr/>
        </p:nvPicPr>
        <p:blipFill>
          <a:blip r:embed="rId5"/>
          <a:stretch>
            <a:fillRect/>
          </a:stretch>
        </p:blipFill>
        <p:spPr>
          <a:xfrm>
            <a:off x="6035040" y="868680"/>
            <a:ext cx="2651760" cy="1874520"/>
          </a:xfrm>
          <a:prstGeom prst="rect">
            <a:avLst/>
          </a:prstGeom>
        </p:spPr>
      </p:pic>
      <p:pic>
        <p:nvPicPr>
          <p:cNvPr id="103" name="Pic_Fig31"/>
          <p:cNvPicPr/>
          <p:nvPr/>
        </p:nvPicPr>
        <p:blipFill>
          <a:blip r:embed="rId6"/>
          <a:stretch>
            <a:fillRect/>
          </a:stretch>
        </p:blipFill>
        <p:spPr>
          <a:xfrm>
            <a:off x="457200" y="2834640"/>
            <a:ext cx="4023360" cy="2011680"/>
          </a:xfrm>
          <a:prstGeom prst="rect">
            <a:avLst/>
          </a:prstGeom>
        </p:spPr>
      </p:pic>
      <p:pic>
        <p:nvPicPr>
          <p:cNvPr id="104" name="Pic_Fig42"/>
          <p:cNvPicPr/>
          <p:nvPr/>
        </p:nvPicPr>
        <p:blipFill>
          <a:blip r:embed="rId7"/>
          <a:stretch>
            <a:fillRect/>
          </a:stretch>
        </p:blipFill>
        <p:spPr>
          <a:xfrm>
            <a:off x="4663440" y="2834640"/>
            <a:ext cx="40233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5486400" y="27432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0" b="1" dirty="0">
                <a:solidFill>
                  <a:srgbClr val="E07B39">
                    <a:alpha val="15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8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Final Pipeline &amp; Deployment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Pix2Pix + CodeFormer Enhancement + Streamlit App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6 — Final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26364" y="1005840"/>
            <a:ext cx="1417320" cy="2560320"/>
          </a:xfrm>
          <a:prstGeom prst="rect">
            <a:avLst/>
          </a:prstGeom>
          <a:solidFill>
            <a:srgbClr val="1E204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133856" y="1115568"/>
            <a:ext cx="402336" cy="402336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133856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6364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26364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Sketch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" y="26974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Hand-drawn 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edge map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43684" y="2176272"/>
            <a:ext cx="201168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034540" y="21031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B39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4852" y="1005840"/>
            <a:ext cx="1417320" cy="25603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2752344" y="1115568"/>
            <a:ext cx="402336" cy="402336"/>
          </a:xfrm>
          <a:prstGeom prst="lin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2752344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B39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4852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44852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Pix2Pix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4852" y="26974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Generator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62172" y="2176272"/>
            <a:ext cx="201168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3653028" y="21031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B39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63340" y="1005840"/>
            <a:ext cx="1417320" cy="2560320"/>
          </a:xfrm>
          <a:prstGeom prst="rect">
            <a:avLst/>
          </a:prstGeom>
          <a:solidFill>
            <a:srgbClr val="1E204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370832" y="1115568"/>
            <a:ext cx="402336" cy="402336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370832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63340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63340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Generated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63340" y="26974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GAN 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80660" y="2176272"/>
            <a:ext cx="201168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5271516" y="21031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B39"/>
                </a:solidFill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1828" y="1005840"/>
            <a:ext cx="1417320" cy="256032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5989320" y="1115568"/>
            <a:ext cx="402336" cy="402336"/>
          </a:xfrm>
          <a:prstGeom prst="lin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989320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4B3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1828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481828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CodeFormer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1828" y="26974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Face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 &amp; Enhancement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99148" y="2176272"/>
            <a:ext cx="201168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890004" y="21031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B39"/>
                </a:solidFill>
              </a:rPr>
              <a:t>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00316" y="1005840"/>
            <a:ext cx="1417320" cy="2560320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7607808" y="1115568"/>
            <a:ext cx="402336" cy="402336"/>
          </a:xfrm>
          <a:prstGeom prst="lin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7607808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9B6F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100316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100316" y="214884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Enhanced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00316" y="26974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high-quality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output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CodeFormer provides blind face restoration — sharpening details lost during GAN synthesis and handling out-of-distribution inputs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6 — Deployment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697480" cy="411480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" y="1389888"/>
            <a:ext cx="2478024" cy="402336"/>
          </a:xfrm>
          <a:prstGeom prst="rect">
            <a:avLst/>
          </a:prstGeom>
          <a:solidFill>
            <a:srgbClr val="000000"/>
          </a:solidFill>
          <a:ln w="9525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94360" y="138988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" y="1883664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94360" y="188366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upload (PNG/JPEG)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377440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94360" y="237744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sample sketches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" y="2871216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94360" y="287121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face display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" y="3364992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594360" y="33649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section (sidebar)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08960" y="2103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</a:rPr>
              <a:t>⟷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91840" y="8686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291840" y="868680"/>
            <a:ext cx="2697480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291840" y="8686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01568" y="1389888"/>
            <a:ext cx="2478024" cy="402336"/>
          </a:xfrm>
          <a:prstGeom prst="rect">
            <a:avLst/>
          </a:prstGeom>
          <a:solidFill>
            <a:srgbClr val="000000"/>
          </a:solidFill>
          <a:ln w="9525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474720" y="138988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1883664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3474720" y="188366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endpoint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01568" y="2377440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474720" y="237744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check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01568" y="2871216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3474720" y="287121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01568" y="3364992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474720" y="33649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timeout + error messages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210312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7B39"/>
                </a:solidFill>
              </a:rPr>
              <a:t>⟷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72200" y="86868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6172200" y="868680"/>
            <a:ext cx="2697480" cy="4114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172200" y="8686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81928" y="1389888"/>
            <a:ext cx="2478024" cy="402336"/>
          </a:xfrm>
          <a:prstGeom prst="rect">
            <a:avLst/>
          </a:prstGeom>
          <a:solidFill>
            <a:srgbClr val="000000"/>
          </a:solidFill>
          <a:ln w="9525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6355080" y="138988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pix2pix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81928" y="1883664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6355080" y="188366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once at startup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81928" y="2377440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6355080" y="237744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81928" y="2871216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6355080" y="287121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model.eval() + no_grad()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81928" y="3364992"/>
            <a:ext cx="2478024" cy="402336"/>
          </a:xfrm>
          <a:prstGeom prst="rect">
            <a:avLst/>
          </a:prstGeom>
          <a:solidFill>
            <a:srgbClr val="F5F0E8"/>
          </a:solidFill>
          <a:ln w="9525">
            <a:solidFill>
              <a:srgbClr val="E8E0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6355080" y="33649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215.7 MB, 31.6 ms/img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224528"/>
            <a:ext cx="8321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6" name="Shape 44"/>
          <p:cNvSpPr/>
          <p:nvPr/>
        </p:nvSpPr>
        <p:spPr>
          <a:xfrm>
            <a:off x="411480" y="4224528"/>
            <a:ext cx="832104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502920" y="4343400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Containerisation: multi-stage Dockerfile + docker-compose.yml  |  Structured JSON logging  |  Config via ENV vars  |  GitHub CI/CD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Phase 6 — Deployment Architecture Diagram</a:t>
            </a:r>
            <a:endParaRPr lang="en-US" sz="2400" dirty="0"/>
          </a:p>
        </p:txBody>
      </p:sp>
      <p:pic>
        <p:nvPicPr>
          <p:cNvPr id="100" name="Pic_Deploy"/>
          <p:cNvPicPr/>
          <p:nvPr/>
        </p:nvPicPr>
        <p:blipFill>
          <a:blip r:embed="rId3"/>
          <a:srcRect/>
          <a:stretch/>
        </p:blipFill>
        <p:spPr>
          <a:xfrm>
            <a:off x="2857501" y="868680"/>
            <a:ext cx="3102428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Discussion — Where It Works &amp; Where It Fails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114800" cy="54864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94360" y="9692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B6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 Where the Model Succeeds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Near-frontal, well-lit, unoccluded faces matching CelebA distribution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captures gender and broad facial structure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Gaussian noise σ≤10 and JPEG quality ≥75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latent space shows semantically meaningful face manifold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interpolation between face encodings → coherent intermediate faces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25.4% L1 improvement via ResNet-50 transfer learning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023360" cy="5486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800600" y="9692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B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✗  Where the Model Fails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occlusion: sunglasses, hats, makeup — 83.3% of 30 worst predictions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Non-frontal poses and dark-contrast images consistently fail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Over-smoothing: L1-dominated training → blurry average-face outputs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PK" sz="1200" dirty="0"/>
              <a:t>Out-of-distribution sketches with high abstraction levels (very rough or artistic sketches)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bottleneck: domain gap between algorithmic edge maps and true forensic hand-drawn sketches — the central unsolved challenge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Limitations &amp; Ethical Considerations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64008" cy="17830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66928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B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⚠  Dataset Bias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34416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25k filtered CelebA images — predominantly Western, light-skinned, frontal. Elevated L1 for male faces (0.3236 vs 0.3087 female), older faces (0.3241 vs 0.3120 younger), dark-contrast images.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64408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3264408" y="868680"/>
            <a:ext cx="64008" cy="17830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3419856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✏  Sketch Authenticity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9856" y="134416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maps ≠ forensic sketches. Never trained or evaluated on CUFS. Direct CUFS input → identity collapse. Cannot be used for real forensic applications.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17336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117336" y="868680"/>
            <a:ext cx="64008" cy="1783080"/>
          </a:xfrm>
          <a:prstGeom prst="rect">
            <a:avLst/>
          </a:prstGeom>
          <a:solidFill>
            <a:srgbClr val="2C3E7A"/>
          </a:solidFill>
          <a:ln w="12700">
            <a:solidFill>
              <a:srgbClr val="2C3E7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272784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7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⏱  Compute Budget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2784" y="134416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interrupted at 3,000/10,000 steps. HPO limited to 6/20 trials. Higher-resolution (512px, 1024px) not attempted.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8346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11480" y="2834640"/>
            <a:ext cx="64008" cy="17830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566928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❓  No Confidence Calibration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31012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deterministic output with no uncertainty quantification. Cannot distinguish high-confidence vs out-of-distribution inputs.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4408" y="28346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3264408" y="2834640"/>
            <a:ext cx="64008" cy="1783080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419856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9B6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📊  Validity Threats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19856" y="331012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gameable by blurry average-face outputs. LPIPS should be primary metric. Test set drawn from same CelebA distribution — no OOD evaluation.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17336" y="28346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6117336" y="2834640"/>
            <a:ext cx="64008" cy="17830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272784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B31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🛡  Deployment Risk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331012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be used in forensic/law enforcement contexts without extensive bias auditing across skin tone, age, gender, ethnicity.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9748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07B39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11480" y="98755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B39">
                    <a:alpha val="4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141732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Extended Training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1208" y="1828800"/>
            <a:ext cx="2478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epochs with L1+LPIPS as joint training loss to address over-smoothing problem caused by training duration, not architecture.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4408" y="914400"/>
            <a:ext cx="269748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07B39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264408" y="98755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B39">
                    <a:alpha val="4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74136" y="141732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CUFS Fine-Tuning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74136" y="1828800"/>
            <a:ext cx="2478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ResNet-50 encoder on paired forensic sketch/photo data — most impactful single improvement targeting the domain gap.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17336" y="914400"/>
            <a:ext cx="269748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07B39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117336" y="98755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B39">
                    <a:alpha val="4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27064" y="141732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PatchGAN Discriminator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7064" y="1828800"/>
            <a:ext cx="2478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70×70 PatchGAN adversarial discriminator to force realistic local texture and reduce blurriness of L1-dominated outputs.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37944" y="2880360"/>
            <a:ext cx="269748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07B39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837944" y="29535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B39">
                    <a:alpha val="4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47672" y="338328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Adaptive Canny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47672" y="3794760"/>
            <a:ext cx="2478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fixed thresholds (50/150) with locally adaptive thresholds for improved edge extraction on low/high contrast inputs.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90872" y="2880360"/>
            <a:ext cx="269748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07B39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690872" y="29535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B39">
                    <a:alpha val="40000"/>
                  </a:srgbClr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Uncertainty Quantification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3794760"/>
            <a:ext cx="247802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MC-dropout or deep ensemble to flag out-of-distribution inputs — required for any responsible high-stakes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07B39">
              <a:alpha val="20000"/>
            </a:srgbClr>
          </a:solidFill>
          <a:ln w="12700">
            <a:solidFill>
              <a:srgbClr val="E07B3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C84B31">
              <a:alpha val="8000"/>
            </a:srgbClr>
          </a:solidFill>
          <a:ln w="12700">
            <a:solidFill>
              <a:srgbClr val="C84B31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F0E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201168" cy="201168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transfer learning with differential LR → 25.4% L1 improvement, statistically significant (p&lt;0.0001, d=0.719)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002536"/>
            <a:ext cx="201168" cy="201168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868680" y="1975104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F.normalize is a critical stability mechanism — removing it degrades performance by 65%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404872"/>
            <a:ext cx="201168" cy="201168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dropout_p is the dominant hyperparameter; primary risk is underfitting, not overfitting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807208"/>
            <a:ext cx="201168" cy="201168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868680" y="2779776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gap (edge maps vs. real forensic sketches) is the primary unsolved challenge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09544"/>
            <a:ext cx="201168" cy="201168"/>
          </a:xfrm>
          <a:prstGeom prst="lin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68680" y="3182112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public Streamlit app with Docker containerisation and reproducible GitHub codebase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Moazzam Sharif • Bilal Asif • Muaz Ahmed  |  AI335L Deep Learning Lab  |  NASTP Institute of Information Technology  |  June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github.com/BILAL-ASIF-github/Sketch-to-Face-Image-Synthesis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58368" y="320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Team &amp; Contributions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69748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417320" y="1024128"/>
            <a:ext cx="685800" cy="685800"/>
          </a:xfrm>
          <a:prstGeom prst="line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1417320" y="10241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Moazzam Sharif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S2024CS009  |  Team Lead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24505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072" y="267919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architecture 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" y="28986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U-Net generator &amp; PatchGAN discriminator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" y="311810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ResNet-50 transfer learning (Ph 3–4)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" y="33375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Documentation &amp; final report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" y="355701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Presentation slides &amp; GitHub structure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64408" y="8686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3264408" y="868680"/>
            <a:ext cx="269748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4270248" y="1024128"/>
            <a:ext cx="685800" cy="685800"/>
          </a:xfrm>
          <a:prstGeom prst="line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270248" y="10241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64408" y="17830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Bilal Asif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64408" y="21031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S2024CS005  |  Data Analyst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74136" y="24505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67919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CelebA dataset &amp; preprocessing pipeline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28986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EDA notebook &amp; augmentation code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11810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Optuna HPO execution (Ph 4)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33375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FID/SSIM/LPIPS metrics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355701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Ablation study compilation &amp; SRS (Ph 1)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17336" y="8686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6117336" y="868680"/>
            <a:ext cx="269748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7123176" y="1024128"/>
            <a:ext cx="685800" cy="685800"/>
          </a:xfrm>
          <a:prstGeom prst="line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7123176" y="10241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7B39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17336" y="17830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Muaz Ahmed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17336" y="210312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S2024CS016  |  Testing &amp; Deployment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27064" y="24505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81928" y="267919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sketch-refiner &amp; CNN edge enhancer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81928" y="289864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MLP baseline training (Ph 2)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81928" y="311810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endpoint &amp; Streamlit UI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81928" y="333756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containerisation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81928" y="355701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Robustness probe experiments (Ph 5)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2331</Words>
  <Application>Microsoft Office PowerPoint</Application>
  <PresentationFormat>On-screen Show (16:9)</PresentationFormat>
  <Paragraphs>468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Palatino Linotype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Sketch-to-Face Image Synthesis</dc:title>
  <dc:subject>PptxGenJS Presentation</dc:subject>
  <dc:creator>PptxGenJS</dc:creator>
  <cp:lastModifiedBy>Moazzam Sharif</cp:lastModifiedBy>
  <cp:revision>3</cp:revision>
  <dcterms:created xsi:type="dcterms:W3CDTF">2026-06-02T18:42:28Z</dcterms:created>
  <dcterms:modified xsi:type="dcterms:W3CDTF">2026-06-02T19:54:00Z</dcterms:modified>
</cp:coreProperties>
</file>